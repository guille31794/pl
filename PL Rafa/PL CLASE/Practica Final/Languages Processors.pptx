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53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5/30/2019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Editar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Editar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5/30/2019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5/30/2019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1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E70799-299E-4AF3-83BC-B969DE1D4A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Language</a:t>
            </a:r>
            <a:r>
              <a:rPr lang="es-ES" dirty="0"/>
              <a:t> </a:t>
            </a:r>
            <a:r>
              <a:rPr lang="en-US" dirty="0"/>
              <a:t>Processors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E6433AF-1BE7-4783-9423-6C55267AEE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C </a:t>
            </a:r>
            <a:r>
              <a:rPr lang="es-ES" dirty="0" err="1"/>
              <a:t>Translator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Assembler</a:t>
            </a:r>
            <a:r>
              <a:rPr lang="es-ES" dirty="0"/>
              <a:t>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EA13FFD-78CF-4375-9127-FF40FCC2B9ED}"/>
              </a:ext>
            </a:extLst>
          </p:cNvPr>
          <p:cNvSpPr txBox="1"/>
          <p:nvPr/>
        </p:nvSpPr>
        <p:spPr>
          <a:xfrm>
            <a:off x="317535" y="5325069"/>
            <a:ext cx="28669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err="1"/>
              <a:t>Authors</a:t>
            </a:r>
            <a:endParaRPr lang="es-ES" b="1" dirty="0"/>
          </a:p>
          <a:p>
            <a:r>
              <a:rPr lang="es-ES" dirty="0"/>
              <a:t>Juan Ruiz Bonald</a:t>
            </a:r>
          </a:p>
          <a:p>
            <a:r>
              <a:rPr lang="es-ES" dirty="0"/>
              <a:t>Rafael Román Aguilar</a:t>
            </a:r>
          </a:p>
        </p:txBody>
      </p:sp>
    </p:spTree>
    <p:extLst>
      <p:ext uri="{BB962C8B-B14F-4D97-AF65-F5344CB8AC3E}">
        <p14:creationId xmlns:p14="http://schemas.microsoft.com/office/powerpoint/2010/main" val="3541732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732D99-5AAD-4CB8-856A-9B65BBBAC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 err="1"/>
              <a:t>Index</a:t>
            </a:r>
            <a:endParaRPr lang="es-ES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EB52C9C-D619-450D-B701-38EEDCD7F2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/>
              <a:t>Grammar</a:t>
            </a:r>
            <a:endParaRPr lang="es-ES" dirty="0"/>
          </a:p>
          <a:p>
            <a:r>
              <a:rPr lang="es-ES" dirty="0" err="1"/>
              <a:t>Things</a:t>
            </a:r>
            <a:r>
              <a:rPr lang="es-ES" dirty="0"/>
              <a:t> </a:t>
            </a:r>
            <a:r>
              <a:rPr lang="es-ES" dirty="0" err="1"/>
              <a:t>Supported</a:t>
            </a:r>
            <a:endParaRPr lang="es-ES" dirty="0"/>
          </a:p>
          <a:p>
            <a:r>
              <a:rPr lang="es-ES" dirty="0"/>
              <a:t>Data </a:t>
            </a:r>
            <a:r>
              <a:rPr lang="es-ES" dirty="0" err="1"/>
              <a:t>Structure</a:t>
            </a:r>
            <a:endParaRPr lang="es-ES" dirty="0"/>
          </a:p>
          <a:p>
            <a:r>
              <a:rPr lang="es-ES" dirty="0" err="1"/>
              <a:t>examples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7130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E3318A-22DD-4BBC-AFDA-5C93D19F0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021" y="-538375"/>
            <a:ext cx="9905998" cy="1905000"/>
          </a:xfrm>
        </p:spPr>
        <p:txBody>
          <a:bodyPr/>
          <a:lstStyle/>
          <a:p>
            <a:r>
              <a:rPr lang="es-ES" b="1" dirty="0" err="1"/>
              <a:t>Grammar</a:t>
            </a:r>
            <a:endParaRPr lang="es-ES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E1E3671-99BE-442F-BE26-D7ABC3F44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0175" y="728770"/>
            <a:ext cx="11357677" cy="593328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s-ES" b="1" dirty="0">
                <a:effectLst/>
              </a:rPr>
              <a:t>entrada</a:t>
            </a:r>
            <a:r>
              <a:rPr lang="es-ES" dirty="0">
                <a:effectLst/>
              </a:rPr>
              <a:t> → </a:t>
            </a:r>
            <a:r>
              <a:rPr lang="es-ES" dirty="0" err="1">
                <a:effectLst/>
              </a:rPr>
              <a:t>instruccion</a:t>
            </a:r>
            <a:r>
              <a:rPr lang="es-ES" dirty="0">
                <a:effectLst/>
              </a:rPr>
              <a:t> entrada | </a:t>
            </a:r>
            <a:r>
              <a:rPr lang="es-ES" dirty="0" err="1">
                <a:effectLst/>
              </a:rPr>
              <a:t>Epsilon</a:t>
            </a:r>
            <a:r>
              <a:rPr lang="es-ES" dirty="0">
                <a:effectLst/>
              </a:rPr>
              <a:t> </a:t>
            </a:r>
            <a:br>
              <a:rPr lang="es-ES" dirty="0">
                <a:effectLst/>
              </a:rPr>
            </a:br>
            <a:r>
              <a:rPr lang="es-ES" b="1" dirty="0" err="1">
                <a:effectLst/>
              </a:rPr>
              <a:t>instruccion</a:t>
            </a:r>
            <a:r>
              <a:rPr lang="es-ES" dirty="0">
                <a:effectLst/>
              </a:rPr>
              <a:t> → </a:t>
            </a:r>
            <a:r>
              <a:rPr lang="es-ES" dirty="0" err="1">
                <a:effectLst/>
              </a:rPr>
              <a:t>funcion</a:t>
            </a:r>
            <a:r>
              <a:rPr lang="es-ES" dirty="0">
                <a:effectLst/>
              </a:rPr>
              <a:t> | </a:t>
            </a:r>
            <a:r>
              <a:rPr lang="es-ES" dirty="0" err="1">
                <a:effectLst/>
              </a:rPr>
              <a:t>asignacion</a:t>
            </a:r>
            <a:r>
              <a:rPr lang="es-ES" dirty="0">
                <a:effectLst/>
              </a:rPr>
              <a:t> ';' | condicional | </a:t>
            </a:r>
            <a:r>
              <a:rPr lang="es-ES" dirty="0" err="1">
                <a:effectLst/>
              </a:rPr>
              <a:t>inicializacion</a:t>
            </a:r>
            <a:r>
              <a:rPr lang="es-ES" dirty="0">
                <a:effectLst/>
              </a:rPr>
              <a:t> ';'</a:t>
            </a:r>
          </a:p>
          <a:p>
            <a:pPr marL="0" indent="0">
              <a:buNone/>
            </a:pPr>
            <a:endParaRPr lang="es-ES" dirty="0">
              <a:effectLst/>
            </a:endParaRPr>
          </a:p>
          <a:p>
            <a:pPr marL="0" indent="0">
              <a:buNone/>
            </a:pPr>
            <a:r>
              <a:rPr lang="es-ES" b="1" dirty="0" err="1">
                <a:effectLst/>
              </a:rPr>
              <a:t>funcion</a:t>
            </a:r>
            <a:r>
              <a:rPr lang="es-ES" dirty="0">
                <a:effectLst/>
              </a:rPr>
              <a:t> → TIPO ID '(' </a:t>
            </a:r>
            <a:r>
              <a:rPr lang="es-ES" dirty="0" err="1">
                <a:effectLst/>
              </a:rPr>
              <a:t>inicializacion</a:t>
            </a:r>
            <a:r>
              <a:rPr lang="es-ES" dirty="0">
                <a:effectLst/>
              </a:rPr>
              <a:t> ')' '{' contenido '}' </a:t>
            </a:r>
            <a:br>
              <a:rPr lang="es-ES" dirty="0">
                <a:effectLst/>
              </a:rPr>
            </a:br>
            <a:r>
              <a:rPr lang="es-ES" b="1" dirty="0">
                <a:effectLst/>
              </a:rPr>
              <a:t>condicional</a:t>
            </a:r>
            <a:r>
              <a:rPr lang="es-ES" dirty="0">
                <a:effectLst/>
              </a:rPr>
              <a:t> → IF '(' </a:t>
            </a:r>
            <a:r>
              <a:rPr lang="es-ES" dirty="0" err="1">
                <a:effectLst/>
              </a:rPr>
              <a:t>operacionLog</a:t>
            </a:r>
            <a:r>
              <a:rPr lang="es-ES" dirty="0">
                <a:effectLst/>
              </a:rPr>
              <a:t> ')' '{' contenido '}' | IF '(' </a:t>
            </a:r>
            <a:r>
              <a:rPr lang="es-ES" dirty="0" err="1">
                <a:effectLst/>
              </a:rPr>
              <a:t>operacionLog</a:t>
            </a:r>
            <a:r>
              <a:rPr lang="es-ES" dirty="0">
                <a:effectLst/>
              </a:rPr>
              <a:t> ')' '{' contenido '}' ELSE '{' contenido '}' | WHILE '(‘ 				        </a:t>
            </a:r>
            <a:r>
              <a:rPr lang="es-ES" dirty="0" err="1">
                <a:effectLst/>
              </a:rPr>
              <a:t>operacionLog</a:t>
            </a:r>
            <a:r>
              <a:rPr lang="es-ES" dirty="0">
                <a:effectLst/>
              </a:rPr>
              <a:t> ')' '{' contenido '}' </a:t>
            </a:r>
            <a:br>
              <a:rPr lang="es-ES" dirty="0">
                <a:effectLst/>
              </a:rPr>
            </a:br>
            <a:r>
              <a:rPr lang="es-ES" b="1" dirty="0">
                <a:effectLst/>
              </a:rPr>
              <a:t>contenido</a:t>
            </a:r>
            <a:r>
              <a:rPr lang="es-ES" dirty="0">
                <a:effectLst/>
              </a:rPr>
              <a:t> → </a:t>
            </a:r>
            <a:r>
              <a:rPr lang="es-ES" dirty="0" err="1">
                <a:effectLst/>
              </a:rPr>
              <a:t>asignacion</a:t>
            </a:r>
            <a:r>
              <a:rPr lang="es-ES" dirty="0">
                <a:effectLst/>
              </a:rPr>
              <a:t> ';' contenido | </a:t>
            </a:r>
            <a:r>
              <a:rPr lang="es-ES" dirty="0" err="1">
                <a:effectLst/>
              </a:rPr>
              <a:t>inicializacion</a:t>
            </a:r>
            <a:r>
              <a:rPr lang="es-ES" dirty="0">
                <a:effectLst/>
              </a:rPr>
              <a:t> ';' contenido | condicional contenido | retorno ';' contenido | </a:t>
            </a:r>
            <a:r>
              <a:rPr lang="es-ES" dirty="0" err="1">
                <a:effectLst/>
              </a:rPr>
              <a:t>Epsilon</a:t>
            </a:r>
            <a:r>
              <a:rPr lang="es-ES" dirty="0">
                <a:effectLst/>
              </a:rPr>
              <a:t> </a:t>
            </a:r>
            <a:br>
              <a:rPr lang="es-ES" dirty="0">
                <a:effectLst/>
              </a:rPr>
            </a:br>
            <a:r>
              <a:rPr lang="es-ES" b="1" dirty="0">
                <a:effectLst/>
              </a:rPr>
              <a:t>retorno</a:t>
            </a:r>
            <a:r>
              <a:rPr lang="es-ES" dirty="0">
                <a:effectLst/>
              </a:rPr>
              <a:t> → RETURN devuelve </a:t>
            </a:r>
            <a:br>
              <a:rPr lang="es-ES" dirty="0">
                <a:effectLst/>
              </a:rPr>
            </a:br>
            <a:r>
              <a:rPr lang="es-ES" b="1" dirty="0" err="1">
                <a:effectLst/>
              </a:rPr>
              <a:t>devuelve</a:t>
            </a:r>
            <a:r>
              <a:rPr lang="es-ES" dirty="0">
                <a:effectLst/>
              </a:rPr>
              <a:t> → </a:t>
            </a:r>
            <a:r>
              <a:rPr lang="es-ES" dirty="0" err="1">
                <a:effectLst/>
              </a:rPr>
              <a:t>operacion</a:t>
            </a:r>
            <a:r>
              <a:rPr lang="es-ES" dirty="0">
                <a:effectLst/>
              </a:rPr>
              <a:t> | </a:t>
            </a:r>
            <a:r>
              <a:rPr lang="es-ES" dirty="0" err="1">
                <a:effectLst/>
              </a:rPr>
              <a:t>Epsilon</a:t>
            </a:r>
            <a:r>
              <a:rPr lang="es-ES" dirty="0">
                <a:effectLst/>
              </a:rPr>
              <a:t> </a:t>
            </a:r>
            <a:br>
              <a:rPr lang="es-ES" dirty="0">
                <a:effectLst/>
              </a:rPr>
            </a:br>
            <a:r>
              <a:rPr lang="es-ES" b="1" dirty="0" err="1">
                <a:effectLst/>
              </a:rPr>
              <a:t>asignacion</a:t>
            </a:r>
            <a:r>
              <a:rPr lang="es-ES" dirty="0">
                <a:effectLst/>
              </a:rPr>
              <a:t> → ID ASSIGN </a:t>
            </a:r>
            <a:r>
              <a:rPr lang="es-ES" dirty="0" err="1">
                <a:effectLst/>
              </a:rPr>
              <a:t>operacion</a:t>
            </a:r>
            <a:endParaRPr lang="es-ES" dirty="0">
              <a:effectLst/>
            </a:endParaRPr>
          </a:p>
          <a:p>
            <a:pPr marL="0" indent="0">
              <a:buNone/>
            </a:pPr>
            <a:br>
              <a:rPr lang="es-ES" dirty="0"/>
            </a:br>
            <a:r>
              <a:rPr lang="es-ES" b="1" dirty="0" err="1">
                <a:effectLst/>
              </a:rPr>
              <a:t>operacion</a:t>
            </a:r>
            <a:r>
              <a:rPr lang="es-ES" dirty="0">
                <a:effectLst/>
              </a:rPr>
              <a:t> → </a:t>
            </a:r>
            <a:r>
              <a:rPr lang="es-ES" dirty="0" err="1">
                <a:effectLst/>
              </a:rPr>
              <a:t>operacionAri</a:t>
            </a:r>
            <a:r>
              <a:rPr lang="es-ES" dirty="0">
                <a:effectLst/>
              </a:rPr>
              <a:t> | </a:t>
            </a:r>
            <a:r>
              <a:rPr lang="es-ES" dirty="0" err="1">
                <a:effectLst/>
              </a:rPr>
              <a:t>operacionLog</a:t>
            </a:r>
            <a:r>
              <a:rPr lang="es-ES" dirty="0">
                <a:effectLst/>
              </a:rPr>
              <a:t> </a:t>
            </a:r>
            <a:br>
              <a:rPr lang="es-ES" dirty="0">
                <a:effectLst/>
              </a:rPr>
            </a:br>
            <a:r>
              <a:rPr lang="es-ES" b="1" dirty="0" err="1">
                <a:effectLst/>
              </a:rPr>
              <a:t>operacionLog</a:t>
            </a:r>
            <a:r>
              <a:rPr lang="es-ES" dirty="0">
                <a:effectLst/>
              </a:rPr>
              <a:t> → </a:t>
            </a:r>
            <a:r>
              <a:rPr lang="es-ES" dirty="0" err="1">
                <a:effectLst/>
              </a:rPr>
              <a:t>exprLog</a:t>
            </a:r>
            <a:r>
              <a:rPr lang="es-ES" dirty="0">
                <a:effectLst/>
              </a:rPr>
              <a:t> </a:t>
            </a:r>
            <a:br>
              <a:rPr lang="es-ES" dirty="0">
                <a:effectLst/>
              </a:rPr>
            </a:br>
            <a:r>
              <a:rPr lang="es-ES" b="1" dirty="0" err="1">
                <a:effectLst/>
              </a:rPr>
              <a:t>exprLog</a:t>
            </a:r>
            <a:r>
              <a:rPr lang="es-ES" dirty="0">
                <a:effectLst/>
              </a:rPr>
              <a:t> → factor AND </a:t>
            </a:r>
            <a:r>
              <a:rPr lang="es-ES" dirty="0" err="1">
                <a:effectLst/>
              </a:rPr>
              <a:t>exprLog</a:t>
            </a:r>
            <a:r>
              <a:rPr lang="es-ES" dirty="0">
                <a:effectLst/>
              </a:rPr>
              <a:t> | factor EQ </a:t>
            </a:r>
            <a:r>
              <a:rPr lang="es-ES" dirty="0" err="1">
                <a:effectLst/>
              </a:rPr>
              <a:t>exprLog</a:t>
            </a:r>
            <a:r>
              <a:rPr lang="es-ES" dirty="0">
                <a:effectLst/>
              </a:rPr>
              <a:t> | factor (EQ, LT, LE, GT, GE, NE, AND, OR, NOT) </a:t>
            </a:r>
            <a:r>
              <a:rPr lang="es-ES" dirty="0" err="1">
                <a:effectLst/>
              </a:rPr>
              <a:t>exprLog</a:t>
            </a:r>
            <a:r>
              <a:rPr lang="es-ES" dirty="0">
                <a:effectLst/>
              </a:rPr>
              <a:t> | factor </a:t>
            </a:r>
            <a:br>
              <a:rPr lang="es-ES" dirty="0">
                <a:effectLst/>
              </a:rPr>
            </a:br>
            <a:r>
              <a:rPr lang="es-ES" b="1" dirty="0" err="1">
                <a:effectLst/>
              </a:rPr>
              <a:t>operacionAri</a:t>
            </a:r>
            <a:r>
              <a:rPr lang="es-ES" dirty="0">
                <a:effectLst/>
              </a:rPr>
              <a:t> → sum PLUS </a:t>
            </a:r>
            <a:r>
              <a:rPr lang="es-ES" dirty="0" err="1">
                <a:effectLst/>
              </a:rPr>
              <a:t>operacionAri</a:t>
            </a:r>
            <a:r>
              <a:rPr lang="es-ES" dirty="0">
                <a:effectLst/>
              </a:rPr>
              <a:t> | sum MINUS </a:t>
            </a:r>
            <a:r>
              <a:rPr lang="es-ES" dirty="0" err="1">
                <a:effectLst/>
              </a:rPr>
              <a:t>operacionAri</a:t>
            </a:r>
            <a:r>
              <a:rPr lang="es-ES" dirty="0">
                <a:effectLst/>
              </a:rPr>
              <a:t> | sum </a:t>
            </a:r>
            <a:br>
              <a:rPr lang="es-ES" dirty="0">
                <a:effectLst/>
              </a:rPr>
            </a:br>
            <a:r>
              <a:rPr lang="es-ES" b="1" dirty="0" err="1">
                <a:effectLst/>
              </a:rPr>
              <a:t>sum</a:t>
            </a:r>
            <a:r>
              <a:rPr lang="es-ES" dirty="0">
                <a:effectLst/>
              </a:rPr>
              <a:t> → </a:t>
            </a:r>
            <a:r>
              <a:rPr lang="es-ES" dirty="0" err="1">
                <a:effectLst/>
              </a:rPr>
              <a:t>exprAri</a:t>
            </a:r>
            <a:r>
              <a:rPr lang="es-ES" dirty="0">
                <a:effectLst/>
              </a:rPr>
              <a:t> | </a:t>
            </a:r>
            <a:r>
              <a:rPr lang="es-ES" dirty="0" err="1">
                <a:effectLst/>
              </a:rPr>
              <a:t>exprAri</a:t>
            </a:r>
            <a:r>
              <a:rPr lang="es-ES" dirty="0">
                <a:effectLst/>
              </a:rPr>
              <a:t> TIMES </a:t>
            </a:r>
            <a:r>
              <a:rPr lang="es-ES" dirty="0" err="1">
                <a:effectLst/>
              </a:rPr>
              <a:t>exprAri</a:t>
            </a:r>
            <a:r>
              <a:rPr lang="es-ES" dirty="0">
                <a:effectLst/>
              </a:rPr>
              <a:t> | </a:t>
            </a:r>
            <a:r>
              <a:rPr lang="es-ES" dirty="0" err="1">
                <a:effectLst/>
              </a:rPr>
              <a:t>exprAri</a:t>
            </a:r>
            <a:r>
              <a:rPr lang="es-ES" dirty="0">
                <a:effectLst/>
              </a:rPr>
              <a:t> DIVIDE </a:t>
            </a:r>
            <a:r>
              <a:rPr lang="es-ES" dirty="0" err="1">
                <a:effectLst/>
              </a:rPr>
              <a:t>exprAri</a:t>
            </a:r>
            <a:r>
              <a:rPr lang="es-ES" dirty="0">
                <a:effectLst/>
              </a:rPr>
              <a:t> </a:t>
            </a:r>
            <a:br>
              <a:rPr lang="es-ES" dirty="0">
                <a:effectLst/>
              </a:rPr>
            </a:br>
            <a:r>
              <a:rPr lang="es-ES" b="1" dirty="0" err="1">
                <a:effectLst/>
              </a:rPr>
              <a:t>exprAri</a:t>
            </a:r>
            <a:r>
              <a:rPr lang="es-ES" dirty="0">
                <a:effectLst/>
              </a:rPr>
              <a:t> → '(' </a:t>
            </a:r>
            <a:r>
              <a:rPr lang="es-ES" dirty="0" err="1">
                <a:effectLst/>
              </a:rPr>
              <a:t>operacionAri</a:t>
            </a:r>
            <a:r>
              <a:rPr lang="es-ES" dirty="0">
                <a:effectLst/>
              </a:rPr>
              <a:t> ')' | factor </a:t>
            </a:r>
            <a:br>
              <a:rPr lang="es-ES" dirty="0">
                <a:effectLst/>
              </a:rPr>
            </a:br>
            <a:endParaRPr lang="es-ES" dirty="0">
              <a:effectLst/>
            </a:endParaRPr>
          </a:p>
          <a:p>
            <a:pPr marL="0" indent="0">
              <a:buNone/>
            </a:pPr>
            <a:r>
              <a:rPr lang="es-ES" b="1" dirty="0" err="1">
                <a:effectLst/>
              </a:rPr>
              <a:t>inicializacion_cabecera</a:t>
            </a:r>
            <a:r>
              <a:rPr lang="es-ES" dirty="0">
                <a:effectLst/>
              </a:rPr>
              <a:t> → TIPO ID </a:t>
            </a:r>
            <a:r>
              <a:rPr lang="es-ES" dirty="0" err="1">
                <a:effectLst/>
              </a:rPr>
              <a:t>Resto_cabecera</a:t>
            </a:r>
            <a:r>
              <a:rPr lang="es-ES" dirty="0">
                <a:effectLst/>
              </a:rPr>
              <a:t> | </a:t>
            </a:r>
            <a:r>
              <a:rPr lang="es-ES" dirty="0" err="1">
                <a:effectLst/>
              </a:rPr>
              <a:t>Epsilon</a:t>
            </a:r>
            <a:r>
              <a:rPr lang="es-ES" dirty="0">
                <a:effectLst/>
              </a:rPr>
              <a:t> </a:t>
            </a:r>
            <a:br>
              <a:rPr lang="es-ES" dirty="0">
                <a:effectLst/>
              </a:rPr>
            </a:br>
            <a:r>
              <a:rPr lang="es-ES" b="1" dirty="0" err="1">
                <a:effectLst/>
              </a:rPr>
              <a:t>resto_cabecera</a:t>
            </a:r>
            <a:r>
              <a:rPr lang="es-ES" dirty="0">
                <a:effectLst/>
              </a:rPr>
              <a:t> → ',' TIPO ID </a:t>
            </a:r>
            <a:r>
              <a:rPr lang="es-ES" dirty="0" err="1">
                <a:effectLst/>
              </a:rPr>
              <a:t>Resto_cabecera</a:t>
            </a:r>
            <a:r>
              <a:rPr lang="es-ES" dirty="0">
                <a:effectLst/>
              </a:rPr>
              <a:t> | </a:t>
            </a:r>
            <a:r>
              <a:rPr lang="es-ES" dirty="0" err="1">
                <a:effectLst/>
              </a:rPr>
              <a:t>Epsilon</a:t>
            </a:r>
            <a:r>
              <a:rPr lang="es-ES" dirty="0">
                <a:effectLst/>
              </a:rPr>
              <a:t> </a:t>
            </a:r>
          </a:p>
          <a:p>
            <a:pPr marL="0" indent="0">
              <a:buNone/>
            </a:pPr>
            <a:r>
              <a:rPr lang="es-ES" b="1" dirty="0" err="1">
                <a:effectLst/>
              </a:rPr>
              <a:t>inicializacion</a:t>
            </a:r>
            <a:r>
              <a:rPr lang="es-ES" dirty="0">
                <a:effectLst/>
              </a:rPr>
              <a:t> → TIPO ID resto | TIPO ID </a:t>
            </a:r>
            <a:r>
              <a:rPr lang="es-ES" dirty="0" err="1">
                <a:effectLst/>
              </a:rPr>
              <a:t>asignacion_ini</a:t>
            </a:r>
            <a:r>
              <a:rPr lang="es-ES" dirty="0">
                <a:effectLst/>
              </a:rPr>
              <a:t> resto </a:t>
            </a:r>
          </a:p>
          <a:p>
            <a:pPr marL="0" indent="0">
              <a:buNone/>
            </a:pPr>
            <a:r>
              <a:rPr lang="es-ES" b="1" dirty="0">
                <a:effectLst/>
              </a:rPr>
              <a:t>resto</a:t>
            </a:r>
            <a:r>
              <a:rPr lang="es-ES" dirty="0">
                <a:effectLst/>
              </a:rPr>
              <a:t> → ',' ID resto | ',' ID </a:t>
            </a:r>
            <a:r>
              <a:rPr lang="es-ES" dirty="0" err="1">
                <a:effectLst/>
              </a:rPr>
              <a:t>asignacion</a:t>
            </a:r>
            <a:r>
              <a:rPr lang="es-ES" dirty="0">
                <a:effectLst/>
              </a:rPr>
              <a:t> resto | </a:t>
            </a:r>
            <a:r>
              <a:rPr lang="es-ES" dirty="0" err="1">
                <a:effectLst/>
              </a:rPr>
              <a:t>Epsilon</a:t>
            </a:r>
            <a:br>
              <a:rPr lang="es-ES" dirty="0">
                <a:effectLst/>
              </a:rPr>
            </a:br>
            <a:r>
              <a:rPr lang="es-ES" b="1" dirty="0" err="1">
                <a:effectLst/>
              </a:rPr>
              <a:t>asignacion_ini</a:t>
            </a:r>
            <a:r>
              <a:rPr lang="es-ES" dirty="0">
                <a:effectLst/>
              </a:rPr>
              <a:t> → ASSIGN </a:t>
            </a:r>
            <a:r>
              <a:rPr lang="es-ES" dirty="0" err="1">
                <a:effectLst/>
              </a:rPr>
              <a:t>operacion</a:t>
            </a:r>
            <a:r>
              <a:rPr lang="es-ES" dirty="0">
                <a:effectLst/>
              </a:rPr>
              <a:t> </a:t>
            </a:r>
          </a:p>
          <a:p>
            <a:pPr marL="0" indent="0">
              <a:buNone/>
            </a:pPr>
            <a:br>
              <a:rPr lang="es-ES" dirty="0">
                <a:effectLst/>
              </a:rPr>
            </a:br>
            <a:r>
              <a:rPr lang="es-ES" b="1" dirty="0">
                <a:effectLst/>
              </a:rPr>
              <a:t>TIPO</a:t>
            </a:r>
            <a:r>
              <a:rPr lang="es-ES" dirty="0">
                <a:effectLst/>
              </a:rPr>
              <a:t> → INT </a:t>
            </a:r>
          </a:p>
          <a:p>
            <a:pPr marL="0" indent="0">
              <a:buNone/>
            </a:pPr>
            <a:r>
              <a:rPr lang="es-ES" b="1" dirty="0">
                <a:effectLst/>
              </a:rPr>
              <a:t>factor</a:t>
            </a:r>
            <a:r>
              <a:rPr lang="es-ES" dirty="0">
                <a:effectLst/>
              </a:rPr>
              <a:t> → MINUS NUMBER | NUMBER | ID</a:t>
            </a:r>
            <a:br>
              <a:rPr lang="es-ES" dirty="0">
                <a:effectLst/>
              </a:rPr>
            </a:br>
            <a:endParaRPr lang="es-ES" dirty="0"/>
          </a:p>
        </p:txBody>
      </p:sp>
      <p:sp>
        <p:nvSpPr>
          <p:cNvPr id="4" name="Abrir corchete 3">
            <a:extLst>
              <a:ext uri="{FF2B5EF4-FFF2-40B4-BE49-F238E27FC236}">
                <a16:creationId xmlns:a16="http://schemas.microsoft.com/office/drawing/2014/main" id="{18CCEBA2-9A16-4853-9FC7-74F04DE3EA68}"/>
              </a:ext>
            </a:extLst>
          </p:cNvPr>
          <p:cNvSpPr/>
          <p:nvPr/>
        </p:nvSpPr>
        <p:spPr>
          <a:xfrm>
            <a:off x="1430172" y="728770"/>
            <a:ext cx="206123" cy="692675"/>
          </a:xfrm>
          <a:prstGeom prst="leftBracket">
            <a:avLst/>
          </a:prstGeom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Abrir corchete 4">
            <a:extLst>
              <a:ext uri="{FF2B5EF4-FFF2-40B4-BE49-F238E27FC236}">
                <a16:creationId xmlns:a16="http://schemas.microsoft.com/office/drawing/2014/main" id="{8E255974-CDDA-4DE1-8A58-370D9B396ED1}"/>
              </a:ext>
            </a:extLst>
          </p:cNvPr>
          <p:cNvSpPr/>
          <p:nvPr/>
        </p:nvSpPr>
        <p:spPr>
          <a:xfrm>
            <a:off x="1430172" y="1589313"/>
            <a:ext cx="206123" cy="1367018"/>
          </a:xfrm>
          <a:prstGeom prst="leftBracket">
            <a:avLst/>
          </a:prstGeom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Abrir corchete 5">
            <a:extLst>
              <a:ext uri="{FF2B5EF4-FFF2-40B4-BE49-F238E27FC236}">
                <a16:creationId xmlns:a16="http://schemas.microsoft.com/office/drawing/2014/main" id="{909B3A56-89D0-45CC-8E23-DA89C93939D4}"/>
              </a:ext>
            </a:extLst>
          </p:cNvPr>
          <p:cNvSpPr/>
          <p:nvPr/>
        </p:nvSpPr>
        <p:spPr>
          <a:xfrm>
            <a:off x="1437113" y="3124199"/>
            <a:ext cx="199115" cy="1095214"/>
          </a:xfrm>
          <a:prstGeom prst="leftBracket">
            <a:avLst/>
          </a:prstGeom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Abrir corchete 6">
            <a:extLst>
              <a:ext uri="{FF2B5EF4-FFF2-40B4-BE49-F238E27FC236}">
                <a16:creationId xmlns:a16="http://schemas.microsoft.com/office/drawing/2014/main" id="{1EAC71CE-E867-48AB-8B89-FB4D2882DA0A}"/>
              </a:ext>
            </a:extLst>
          </p:cNvPr>
          <p:cNvSpPr/>
          <p:nvPr/>
        </p:nvSpPr>
        <p:spPr>
          <a:xfrm>
            <a:off x="1437312" y="4387281"/>
            <a:ext cx="199115" cy="1191533"/>
          </a:xfrm>
          <a:prstGeom prst="leftBracket">
            <a:avLst/>
          </a:prstGeom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Abrir corchete 8">
            <a:extLst>
              <a:ext uri="{FF2B5EF4-FFF2-40B4-BE49-F238E27FC236}">
                <a16:creationId xmlns:a16="http://schemas.microsoft.com/office/drawing/2014/main" id="{F6D3E658-BF02-4D99-A766-D7D1521E60C7}"/>
              </a:ext>
            </a:extLst>
          </p:cNvPr>
          <p:cNvSpPr/>
          <p:nvPr/>
        </p:nvSpPr>
        <p:spPr>
          <a:xfrm>
            <a:off x="1424576" y="5756628"/>
            <a:ext cx="218660" cy="635359"/>
          </a:xfrm>
          <a:prstGeom prst="leftBracket">
            <a:avLst/>
          </a:prstGeom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10F86BD-6CFB-4C88-8CB1-8F60DBE427B5}"/>
              </a:ext>
            </a:extLst>
          </p:cNvPr>
          <p:cNvSpPr txBox="1"/>
          <p:nvPr/>
        </p:nvSpPr>
        <p:spPr>
          <a:xfrm>
            <a:off x="526151" y="2060746"/>
            <a:ext cx="886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BODY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06931E5-639D-41B9-A64A-2D44277DEBA7}"/>
              </a:ext>
            </a:extLst>
          </p:cNvPr>
          <p:cNvSpPr txBox="1"/>
          <p:nvPr/>
        </p:nvSpPr>
        <p:spPr>
          <a:xfrm>
            <a:off x="514373" y="890441"/>
            <a:ext cx="886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HEAD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44201DE-8C56-4EC2-A869-4F84FA137248}"/>
              </a:ext>
            </a:extLst>
          </p:cNvPr>
          <p:cNvSpPr txBox="1"/>
          <p:nvPr/>
        </p:nvSpPr>
        <p:spPr>
          <a:xfrm>
            <a:off x="0" y="3481175"/>
            <a:ext cx="18935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/>
              <a:t>OPERATIONS</a:t>
            </a:r>
            <a:endParaRPr lang="es-ES" b="1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978A703-B46A-4FE7-AB5E-B753E2A44C49}"/>
              </a:ext>
            </a:extLst>
          </p:cNvPr>
          <p:cNvSpPr txBox="1"/>
          <p:nvPr/>
        </p:nvSpPr>
        <p:spPr>
          <a:xfrm>
            <a:off x="0" y="4900719"/>
            <a:ext cx="18193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INITIALIZATION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71E38EA-17CC-4619-BBA7-7AE419780FF0}"/>
              </a:ext>
            </a:extLst>
          </p:cNvPr>
          <p:cNvSpPr txBox="1"/>
          <p:nvPr/>
        </p:nvSpPr>
        <p:spPr>
          <a:xfrm>
            <a:off x="265841" y="5659223"/>
            <a:ext cx="115873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RULES DERIVED TO TOKEN</a:t>
            </a:r>
          </a:p>
        </p:txBody>
      </p:sp>
    </p:spTree>
    <p:extLst>
      <p:ext uri="{BB962C8B-B14F-4D97-AF65-F5344CB8AC3E}">
        <p14:creationId xmlns:p14="http://schemas.microsoft.com/office/powerpoint/2010/main" val="4074380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6EA72A-1D81-45C7-938F-F6EA46648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 err="1"/>
              <a:t>Things</a:t>
            </a:r>
            <a:r>
              <a:rPr lang="es-ES" b="1" dirty="0"/>
              <a:t> </a:t>
            </a:r>
            <a:r>
              <a:rPr lang="es-ES" b="1" dirty="0" err="1"/>
              <a:t>Supported</a:t>
            </a:r>
            <a:endParaRPr lang="es-ES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6CCC2E2-E032-4314-BB52-1DFCA1930D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>
                <a:latin typeface="Calibri" panose="020F0502020204030204" pitchFamily="34" charset="0"/>
                <a:cs typeface="Calibri" panose="020F0502020204030204" pitchFamily="34" charset="0"/>
              </a:rPr>
              <a:t>Arithmetic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s-ES" dirty="0" err="1">
                <a:latin typeface="Calibri" panose="020F0502020204030204" pitchFamily="34" charset="0"/>
                <a:cs typeface="Calibri" panose="020F0502020204030204" pitchFamily="34" charset="0"/>
              </a:rPr>
              <a:t>Logical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dirty="0" err="1">
                <a:latin typeface="Calibri" panose="020F0502020204030204" pitchFamily="34" charset="0"/>
                <a:cs typeface="Calibri" panose="020F0502020204030204" pitchFamily="34" charset="0"/>
              </a:rPr>
              <a:t>Operations</a:t>
            </a:r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Variables (Global and Local)</a:t>
            </a:r>
          </a:p>
          <a:p>
            <a:r>
              <a:rPr lang="es-ES" dirty="0" err="1">
                <a:latin typeface="Calibri" panose="020F0502020204030204" pitchFamily="34" charset="0"/>
                <a:cs typeface="Calibri" panose="020F0502020204030204" pitchFamily="34" charset="0"/>
              </a:rPr>
              <a:t>Functions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s-ES" dirty="0" err="1">
                <a:latin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dirty="0" err="1">
                <a:latin typeface="Calibri" panose="020F0502020204030204" pitchFamily="34" charset="0"/>
                <a:cs typeface="Calibri" panose="020F0502020204030204" pitchFamily="34" charset="0"/>
              </a:rPr>
              <a:t>any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dirty="0" err="1">
                <a:latin typeface="Calibri" panose="020F0502020204030204" pitchFamily="34" charset="0"/>
                <a:cs typeface="Calibri" panose="020F0502020204030204" pitchFamily="34" charset="0"/>
              </a:rPr>
              <a:t>parameters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es-ES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dirty="0" err="1">
                <a:latin typeface="Calibri" panose="020F0502020204030204" pitchFamily="34" charset="0"/>
                <a:cs typeface="Calibri" panose="020F0502020204030204" pitchFamily="34" charset="0"/>
              </a:rPr>
              <a:t>calling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dirty="0" err="1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dirty="0" err="1">
                <a:latin typeface="Calibri" panose="020F0502020204030204" pitchFamily="34" charset="0"/>
                <a:cs typeface="Calibri" panose="020F0502020204030204" pitchFamily="34" charset="0"/>
              </a:rPr>
              <a:t>function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r>
              <a:rPr lang="es-ES" dirty="0" err="1">
                <a:latin typeface="Calibri" panose="020F0502020204030204" pitchFamily="34" charset="0"/>
                <a:cs typeface="Calibri" panose="020F0502020204030204" pitchFamily="34" charset="0"/>
              </a:rPr>
              <a:t>Asignation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s-ES" dirty="0" err="1">
                <a:latin typeface="Calibri" panose="020F0502020204030204" pitchFamily="34" charset="0"/>
                <a:cs typeface="Calibri" panose="020F0502020204030204" pitchFamily="34" charset="0"/>
              </a:rPr>
              <a:t>Initialization</a:t>
            </a:r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ES" i="1" dirty="0" err="1">
                <a:latin typeface="Calibri" panose="020F0502020204030204" pitchFamily="34" charset="0"/>
                <a:cs typeface="Calibri" panose="020F0502020204030204" pitchFamily="34" charset="0"/>
              </a:rPr>
              <a:t>Conditional</a:t>
            </a:r>
            <a:r>
              <a:rPr lang="es-E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i="1" dirty="0" err="1">
                <a:latin typeface="Calibri" panose="020F0502020204030204" pitchFamily="34" charset="0"/>
                <a:cs typeface="Calibri" panose="020F0502020204030204" pitchFamily="34" charset="0"/>
              </a:rPr>
              <a:t>Functions</a:t>
            </a:r>
            <a:r>
              <a:rPr lang="es-ES" i="1" dirty="0">
                <a:latin typeface="Calibri" panose="020F0502020204030204" pitchFamily="34" charset="0"/>
                <a:cs typeface="Calibri" panose="020F0502020204030204" pitchFamily="34" charset="0"/>
              </a:rPr>
              <a:t> (IF/ELSE and WHILE), </a:t>
            </a:r>
            <a:r>
              <a:rPr lang="es-ES" i="1" dirty="0" err="1">
                <a:latin typeface="Calibri" panose="020F0502020204030204" pitchFamily="34" charset="0"/>
                <a:cs typeface="Calibri" panose="020F0502020204030204" pitchFamily="34" charset="0"/>
              </a:rPr>
              <a:t>Scanf</a:t>
            </a:r>
            <a:r>
              <a:rPr lang="es-ES" i="1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s-ES" i="1" dirty="0" err="1">
                <a:latin typeface="Calibri" panose="020F0502020204030204" pitchFamily="34" charset="0"/>
                <a:cs typeface="Calibri" panose="020F0502020204030204" pitchFamily="34" charset="0"/>
              </a:rPr>
              <a:t>Printf</a:t>
            </a:r>
            <a:r>
              <a:rPr lang="es-E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i="1" dirty="0" err="1">
                <a:latin typeface="Calibri" panose="020F0502020204030204" pitchFamily="34" charset="0"/>
                <a:cs typeface="Calibri" panose="020F0502020204030204" pitchFamily="34" charset="0"/>
              </a:rPr>
              <a:t>works</a:t>
            </a:r>
            <a:r>
              <a:rPr lang="es-E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i="1" dirty="0" err="1">
                <a:latin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es-E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i="1" dirty="0" err="1">
                <a:latin typeface="Calibri" panose="020F0502020204030204" pitchFamily="34" charset="0"/>
                <a:cs typeface="Calibri" panose="020F0502020204030204" pitchFamily="34" charset="0"/>
              </a:rPr>
              <a:t>some</a:t>
            </a:r>
            <a:r>
              <a:rPr lang="es-E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i="1" dirty="0" err="1">
                <a:latin typeface="Calibri" panose="020F0502020204030204" pitchFamily="34" charset="0"/>
                <a:cs typeface="Calibri" panose="020F0502020204030204" pitchFamily="34" charset="0"/>
              </a:rPr>
              <a:t>errors</a:t>
            </a:r>
            <a:endParaRPr lang="es-ES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s-E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4425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58BC65-509B-4330-9053-B4457A7FF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Data </a:t>
            </a:r>
            <a:r>
              <a:rPr lang="es-ES" b="1" dirty="0" err="1"/>
              <a:t>structure</a:t>
            </a:r>
            <a:endParaRPr lang="es-ES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86A8ECB-F78B-467B-B391-4A28BF9C0F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dirty="0"/>
              <a:t>Down </a:t>
            </a:r>
            <a:r>
              <a:rPr lang="es-ES" b="1" dirty="0" err="1"/>
              <a:t>Implementation</a:t>
            </a:r>
            <a:r>
              <a:rPr lang="es-ES" b="1" dirty="0"/>
              <a:t> </a:t>
            </a:r>
            <a:endParaRPr lang="es-ES" dirty="0"/>
          </a:p>
          <a:p>
            <a:r>
              <a:rPr lang="es-ES" dirty="0" err="1"/>
              <a:t>We</a:t>
            </a:r>
            <a:r>
              <a:rPr lang="es-ES" dirty="0"/>
              <a:t> </a:t>
            </a:r>
            <a:r>
              <a:rPr lang="es-ES" dirty="0" err="1"/>
              <a:t>created</a:t>
            </a:r>
            <a:r>
              <a:rPr lang="es-ES" dirty="0"/>
              <a:t> a “table” (in </a:t>
            </a:r>
            <a:r>
              <a:rPr lang="es-ES" dirty="0" err="1"/>
              <a:t>python</a:t>
            </a:r>
            <a:r>
              <a:rPr lang="es-ES" dirty="0"/>
              <a:t>)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save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variables and </a:t>
            </a:r>
            <a:r>
              <a:rPr lang="es-ES" dirty="0" err="1"/>
              <a:t>we</a:t>
            </a:r>
            <a:r>
              <a:rPr lang="es-ES" dirty="0"/>
              <a:t> </a:t>
            </a:r>
            <a:r>
              <a:rPr lang="es-ES" dirty="0" err="1"/>
              <a:t>distinct</a:t>
            </a:r>
            <a:r>
              <a:rPr lang="es-ES" dirty="0"/>
              <a:t> </a:t>
            </a:r>
            <a:r>
              <a:rPr lang="es-ES" dirty="0" err="1"/>
              <a:t>them</a:t>
            </a:r>
            <a:r>
              <a:rPr lang="es-ES" dirty="0"/>
              <a:t> </a:t>
            </a:r>
            <a:r>
              <a:rPr lang="es-ES" dirty="0" err="1"/>
              <a:t>by</a:t>
            </a:r>
            <a:r>
              <a:rPr lang="es-ES" dirty="0"/>
              <a:t> Global </a:t>
            </a:r>
            <a:r>
              <a:rPr lang="es-ES" dirty="0" err="1"/>
              <a:t>or</a:t>
            </a:r>
            <a:r>
              <a:rPr lang="es-ES" dirty="0"/>
              <a:t> Local</a:t>
            </a:r>
          </a:p>
          <a:p>
            <a:r>
              <a:rPr lang="en-US" dirty="0"/>
              <a:t>We have global variables (</a:t>
            </a:r>
            <a:r>
              <a:rPr lang="es-ES" dirty="0"/>
              <a:t>in </a:t>
            </a:r>
            <a:r>
              <a:rPr lang="es-ES" dirty="0" err="1"/>
              <a:t>python</a:t>
            </a:r>
            <a:r>
              <a:rPr lang="en-US" dirty="0"/>
              <a:t>) for controlling the initialization of global and local variables, the number of the stack and the parameters that receive the functions</a:t>
            </a:r>
          </a:p>
          <a:p>
            <a:r>
              <a:rPr lang="en-US" dirty="0"/>
              <a:t>We have used several nodes in the implementation of the AST as </a:t>
            </a:r>
            <a:r>
              <a:rPr lang="en-US" dirty="0" err="1"/>
              <a:t>NodoFuncion</a:t>
            </a:r>
            <a:r>
              <a:rPr lang="en-US" dirty="0"/>
              <a:t>, </a:t>
            </a:r>
            <a:r>
              <a:rPr lang="en-US" dirty="0" err="1"/>
              <a:t>NodoInic</a:t>
            </a:r>
            <a:r>
              <a:rPr lang="en-US" dirty="0"/>
              <a:t>, </a:t>
            </a:r>
            <a:r>
              <a:rPr lang="en-US" dirty="0" err="1"/>
              <a:t>NodoVariables</a:t>
            </a:r>
            <a:r>
              <a:rPr lang="en-US" dirty="0"/>
              <a:t> and </a:t>
            </a:r>
            <a:r>
              <a:rPr lang="en-US" dirty="0" err="1"/>
              <a:t>NodoOperaciones</a:t>
            </a:r>
            <a:r>
              <a:rPr lang="en-US" dirty="0"/>
              <a:t>.</a:t>
            </a:r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387204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F0926E-FA14-441C-8AEB-D1A00F211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 err="1"/>
              <a:t>Example</a:t>
            </a:r>
            <a:endParaRPr lang="es-ES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A17CD9-8434-4E79-8FDF-813C4C2F16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3928" y="2206362"/>
            <a:ext cx="3196831" cy="387818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i="1" dirty="0">
                <a:effectLst/>
              </a:rPr>
              <a:t>int</a:t>
            </a:r>
            <a:r>
              <a:rPr lang="en-US" b="1" dirty="0">
                <a:effectLst/>
              </a:rPr>
              <a:t> a;</a:t>
            </a:r>
          </a:p>
          <a:p>
            <a:pPr marL="0" indent="0">
              <a:buNone/>
            </a:pPr>
            <a:r>
              <a:rPr lang="en-US" b="1" i="1" dirty="0">
                <a:effectLst/>
              </a:rPr>
              <a:t>Int</a:t>
            </a:r>
            <a:r>
              <a:rPr lang="en-US" b="1" dirty="0">
                <a:effectLst/>
              </a:rPr>
              <a:t> main()</a:t>
            </a:r>
          </a:p>
          <a:p>
            <a:pPr marL="0" indent="0">
              <a:buNone/>
            </a:pPr>
            <a:r>
              <a:rPr lang="en-US" b="1" dirty="0">
                <a:effectLst/>
              </a:rPr>
              <a:t>{</a:t>
            </a:r>
          </a:p>
          <a:p>
            <a:pPr marL="0" indent="0">
              <a:buNone/>
            </a:pPr>
            <a:r>
              <a:rPr lang="en-US" b="1" dirty="0">
                <a:effectLst/>
              </a:rPr>
              <a:t>	a = 1 &amp;&amp; 0;</a:t>
            </a:r>
          </a:p>
          <a:p>
            <a:pPr marL="0" indent="0">
              <a:buNone/>
            </a:pPr>
            <a:r>
              <a:rPr lang="en-US" b="1" dirty="0">
                <a:effectLst/>
              </a:rPr>
              <a:t>	a = 4 + 1;</a:t>
            </a:r>
          </a:p>
          <a:p>
            <a:pPr marL="0" indent="0">
              <a:buNone/>
            </a:pPr>
            <a:r>
              <a:rPr lang="en-US" b="1" i="1" dirty="0">
                <a:effectLst/>
              </a:rPr>
              <a:t>	int</a:t>
            </a:r>
            <a:r>
              <a:rPr lang="en-US" b="1" dirty="0">
                <a:effectLst/>
              </a:rPr>
              <a:t> b;</a:t>
            </a:r>
          </a:p>
          <a:p>
            <a:pPr marL="0" indent="0">
              <a:buNone/>
            </a:pPr>
            <a:r>
              <a:rPr lang="en-US" b="1" dirty="0">
                <a:effectLst/>
              </a:rPr>
              <a:t>	b = a * 2;</a:t>
            </a:r>
          </a:p>
          <a:p>
            <a:pPr marL="0" indent="0">
              <a:buNone/>
            </a:pPr>
            <a:r>
              <a:rPr lang="en-US" b="1" dirty="0">
                <a:effectLst/>
              </a:rPr>
              <a:t>	return b/a;</a:t>
            </a:r>
          </a:p>
          <a:p>
            <a:pPr marL="0" indent="0">
              <a:buNone/>
            </a:pPr>
            <a:r>
              <a:rPr lang="en-US" b="1" dirty="0">
                <a:effectLst/>
              </a:rPr>
              <a:t>}</a:t>
            </a:r>
          </a:p>
          <a:p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82DCDD1-B1D2-4904-89FA-6DE18D1DF453}"/>
              </a:ext>
            </a:extLst>
          </p:cNvPr>
          <p:cNvSpPr txBox="1"/>
          <p:nvPr/>
        </p:nvSpPr>
        <p:spPr>
          <a:xfrm>
            <a:off x="5012012" y="609600"/>
            <a:ext cx="2935705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.</a:t>
            </a:r>
            <a:r>
              <a:rPr lang="es-ES" dirty="0" err="1"/>
              <a:t>text</a:t>
            </a:r>
            <a:endParaRPr lang="es-ES" dirty="0"/>
          </a:p>
          <a:p>
            <a:r>
              <a:rPr lang="es-ES" dirty="0"/>
              <a:t>.</a:t>
            </a:r>
            <a:r>
              <a:rPr lang="es-ES" dirty="0" err="1"/>
              <a:t>globl</a:t>
            </a:r>
            <a:r>
              <a:rPr lang="es-ES" dirty="0"/>
              <a:t> </a:t>
            </a:r>
            <a:r>
              <a:rPr lang="es-ES" dirty="0" err="1"/>
              <a:t>main</a:t>
            </a:r>
            <a:endParaRPr lang="es-ES" dirty="0"/>
          </a:p>
          <a:p>
            <a:r>
              <a:rPr lang="es-ES" dirty="0"/>
              <a:t>.</a:t>
            </a:r>
            <a:r>
              <a:rPr lang="es-ES" dirty="0" err="1"/>
              <a:t>type</a:t>
            </a:r>
            <a:r>
              <a:rPr lang="es-ES" dirty="0"/>
              <a:t> </a:t>
            </a:r>
            <a:r>
              <a:rPr lang="es-ES" dirty="0" err="1"/>
              <a:t>main</a:t>
            </a:r>
            <a:r>
              <a:rPr lang="es-ES" dirty="0"/>
              <a:t>, @</a:t>
            </a:r>
            <a:r>
              <a:rPr lang="es-ES" dirty="0" err="1"/>
              <a:t>function</a:t>
            </a:r>
            <a:endParaRPr lang="es-ES" dirty="0"/>
          </a:p>
          <a:p>
            <a:r>
              <a:rPr lang="es-ES" dirty="0" err="1"/>
              <a:t>main</a:t>
            </a:r>
            <a:r>
              <a:rPr lang="es-ES" dirty="0"/>
              <a:t>:</a:t>
            </a:r>
          </a:p>
          <a:p>
            <a:r>
              <a:rPr lang="es-ES" dirty="0" err="1"/>
              <a:t>pushl</a:t>
            </a:r>
            <a:r>
              <a:rPr lang="es-ES" dirty="0"/>
              <a:t> %</a:t>
            </a:r>
            <a:r>
              <a:rPr lang="es-ES" dirty="0" err="1"/>
              <a:t>ebp</a:t>
            </a:r>
            <a:endParaRPr lang="es-ES" dirty="0"/>
          </a:p>
          <a:p>
            <a:r>
              <a:rPr lang="es-ES" dirty="0" err="1"/>
              <a:t>movl</a:t>
            </a:r>
            <a:r>
              <a:rPr lang="es-ES" dirty="0"/>
              <a:t> %</a:t>
            </a:r>
            <a:r>
              <a:rPr lang="es-ES" dirty="0" err="1"/>
              <a:t>esp</a:t>
            </a:r>
            <a:r>
              <a:rPr lang="es-ES" dirty="0"/>
              <a:t>, %</a:t>
            </a:r>
            <a:r>
              <a:rPr lang="es-ES" dirty="0" err="1"/>
              <a:t>ebp</a:t>
            </a:r>
            <a:endParaRPr lang="es-ES" dirty="0"/>
          </a:p>
          <a:p>
            <a:br>
              <a:rPr lang="es-ES" dirty="0"/>
            </a:br>
            <a:r>
              <a:rPr lang="es-ES" dirty="0" err="1"/>
              <a:t>cmpl</a:t>
            </a:r>
            <a:r>
              <a:rPr lang="es-ES" dirty="0"/>
              <a:t> $1,$0</a:t>
            </a:r>
          </a:p>
          <a:p>
            <a:r>
              <a:rPr lang="es-ES" dirty="0"/>
              <a:t>je AND</a:t>
            </a:r>
          </a:p>
          <a:p>
            <a:r>
              <a:rPr lang="es-ES" dirty="0" err="1"/>
              <a:t>cmpl</a:t>
            </a:r>
            <a:r>
              <a:rPr lang="es-ES" dirty="0"/>
              <a:t> $0,$0</a:t>
            </a:r>
          </a:p>
          <a:p>
            <a:r>
              <a:rPr lang="es-ES" dirty="0"/>
              <a:t>je AND</a:t>
            </a:r>
          </a:p>
          <a:p>
            <a:r>
              <a:rPr lang="es-ES" dirty="0" err="1"/>
              <a:t>movl</a:t>
            </a:r>
            <a:r>
              <a:rPr lang="es-ES" dirty="0"/>
              <a:t> $1,%eax</a:t>
            </a:r>
          </a:p>
          <a:p>
            <a:r>
              <a:rPr lang="es-ES" dirty="0" err="1"/>
              <a:t>jmp</a:t>
            </a:r>
            <a:r>
              <a:rPr lang="es-ES" dirty="0"/>
              <a:t> F-AND</a:t>
            </a:r>
          </a:p>
          <a:p>
            <a:r>
              <a:rPr lang="es-ES" dirty="0"/>
              <a:t>AND:</a:t>
            </a:r>
          </a:p>
          <a:p>
            <a:r>
              <a:rPr lang="es-ES" dirty="0" err="1"/>
              <a:t>movl</a:t>
            </a:r>
            <a:r>
              <a:rPr lang="es-ES" dirty="0"/>
              <a:t> $0,%eax</a:t>
            </a:r>
          </a:p>
          <a:p>
            <a:r>
              <a:rPr lang="es-ES" dirty="0"/>
              <a:t>F-AND:</a:t>
            </a:r>
          </a:p>
          <a:p>
            <a:r>
              <a:rPr lang="es-ES" dirty="0" err="1"/>
              <a:t>movl</a:t>
            </a:r>
            <a:r>
              <a:rPr lang="es-ES" dirty="0"/>
              <a:t> %</a:t>
            </a:r>
            <a:r>
              <a:rPr lang="es-ES" dirty="0" err="1"/>
              <a:t>eax</a:t>
            </a:r>
            <a:r>
              <a:rPr lang="es-ES" dirty="0"/>
              <a:t>, a</a:t>
            </a:r>
          </a:p>
          <a:p>
            <a:r>
              <a:rPr lang="es-ES" dirty="0" err="1"/>
              <a:t>movl</a:t>
            </a:r>
            <a:r>
              <a:rPr lang="es-ES" dirty="0"/>
              <a:t> $4, %</a:t>
            </a:r>
            <a:r>
              <a:rPr lang="es-ES" dirty="0" err="1"/>
              <a:t>eax</a:t>
            </a:r>
            <a:endParaRPr lang="es-ES" dirty="0"/>
          </a:p>
          <a:p>
            <a:r>
              <a:rPr lang="es-ES" dirty="0" err="1"/>
              <a:t>addl</a:t>
            </a:r>
            <a:r>
              <a:rPr lang="es-ES" dirty="0"/>
              <a:t> $1, %</a:t>
            </a:r>
            <a:r>
              <a:rPr lang="es-ES" dirty="0" err="1"/>
              <a:t>eax</a:t>
            </a:r>
            <a:endParaRPr lang="es-ES" dirty="0"/>
          </a:p>
          <a:p>
            <a:r>
              <a:rPr lang="es-ES" dirty="0" err="1"/>
              <a:t>movl</a:t>
            </a:r>
            <a:r>
              <a:rPr lang="es-ES" dirty="0"/>
              <a:t> %</a:t>
            </a:r>
            <a:r>
              <a:rPr lang="es-ES" dirty="0" err="1"/>
              <a:t>eax</a:t>
            </a:r>
            <a:r>
              <a:rPr lang="es-ES" dirty="0"/>
              <a:t>, a</a:t>
            </a:r>
          </a:p>
          <a:p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9E6C6E1-2DFB-4484-B40E-7A5BF5FE4E0F}"/>
              </a:ext>
            </a:extLst>
          </p:cNvPr>
          <p:cNvSpPr txBox="1"/>
          <p:nvPr/>
        </p:nvSpPr>
        <p:spPr>
          <a:xfrm>
            <a:off x="8029711" y="687519"/>
            <a:ext cx="319683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subl</a:t>
            </a:r>
            <a:r>
              <a:rPr lang="es-ES" dirty="0"/>
              <a:t> $4, %</a:t>
            </a:r>
            <a:r>
              <a:rPr lang="es-ES" dirty="0" err="1"/>
              <a:t>esp</a:t>
            </a:r>
            <a:endParaRPr lang="es-ES" dirty="0"/>
          </a:p>
          <a:p>
            <a:r>
              <a:rPr lang="es-ES" dirty="0" err="1"/>
              <a:t>movl</a:t>
            </a:r>
            <a:r>
              <a:rPr lang="es-ES" dirty="0"/>
              <a:t> $2, %</a:t>
            </a:r>
            <a:r>
              <a:rPr lang="es-ES" dirty="0" err="1"/>
              <a:t>eax</a:t>
            </a:r>
            <a:endParaRPr lang="es-ES" dirty="0"/>
          </a:p>
          <a:p>
            <a:r>
              <a:rPr lang="es-ES" dirty="0" err="1"/>
              <a:t>imull</a:t>
            </a:r>
            <a:r>
              <a:rPr lang="es-ES" dirty="0"/>
              <a:t> a, %</a:t>
            </a:r>
            <a:r>
              <a:rPr lang="es-ES" dirty="0" err="1"/>
              <a:t>eax</a:t>
            </a:r>
            <a:endParaRPr lang="es-ES" dirty="0"/>
          </a:p>
          <a:p>
            <a:r>
              <a:rPr lang="es-ES" dirty="0" err="1"/>
              <a:t>movl</a:t>
            </a:r>
            <a:r>
              <a:rPr lang="es-ES" dirty="0"/>
              <a:t> %</a:t>
            </a:r>
            <a:r>
              <a:rPr lang="es-ES" dirty="0" err="1"/>
              <a:t>eax</a:t>
            </a:r>
            <a:r>
              <a:rPr lang="es-ES" dirty="0"/>
              <a:t>, -4(%</a:t>
            </a:r>
            <a:r>
              <a:rPr lang="es-ES" dirty="0" err="1"/>
              <a:t>ebp</a:t>
            </a:r>
            <a:r>
              <a:rPr lang="es-ES" dirty="0"/>
              <a:t>)</a:t>
            </a:r>
          </a:p>
          <a:p>
            <a:r>
              <a:rPr lang="es-ES" dirty="0" err="1"/>
              <a:t>movl</a:t>
            </a:r>
            <a:r>
              <a:rPr lang="es-ES" dirty="0"/>
              <a:t> -4(%</a:t>
            </a:r>
            <a:r>
              <a:rPr lang="es-ES" dirty="0" err="1"/>
              <a:t>ebp</a:t>
            </a:r>
            <a:r>
              <a:rPr lang="es-ES" dirty="0"/>
              <a:t>), %</a:t>
            </a:r>
            <a:r>
              <a:rPr lang="es-ES" dirty="0" err="1"/>
              <a:t>eax</a:t>
            </a:r>
            <a:endParaRPr lang="es-ES" dirty="0"/>
          </a:p>
          <a:p>
            <a:r>
              <a:rPr lang="es-ES" dirty="0" err="1"/>
              <a:t>cdq</a:t>
            </a:r>
            <a:endParaRPr lang="es-ES" dirty="0"/>
          </a:p>
          <a:p>
            <a:r>
              <a:rPr lang="es-ES" dirty="0" err="1"/>
              <a:t>movl</a:t>
            </a:r>
            <a:r>
              <a:rPr lang="es-ES" dirty="0"/>
              <a:t> a, %</a:t>
            </a:r>
            <a:r>
              <a:rPr lang="es-ES" dirty="0" err="1"/>
              <a:t>ecx</a:t>
            </a:r>
            <a:endParaRPr lang="es-ES" dirty="0"/>
          </a:p>
          <a:p>
            <a:r>
              <a:rPr lang="es-ES" dirty="0" err="1"/>
              <a:t>divl</a:t>
            </a:r>
            <a:r>
              <a:rPr lang="es-ES" dirty="0"/>
              <a:t> %</a:t>
            </a:r>
            <a:r>
              <a:rPr lang="es-ES" dirty="0" err="1"/>
              <a:t>ecx</a:t>
            </a:r>
            <a:endParaRPr lang="es-ES" dirty="0"/>
          </a:p>
          <a:p>
            <a:r>
              <a:rPr lang="es-ES" dirty="0" err="1"/>
              <a:t>movl</a:t>
            </a:r>
            <a:r>
              <a:rPr lang="es-ES" dirty="0"/>
              <a:t> %</a:t>
            </a:r>
            <a:r>
              <a:rPr lang="es-ES" dirty="0" err="1"/>
              <a:t>ecx</a:t>
            </a:r>
            <a:r>
              <a:rPr lang="es-ES" dirty="0"/>
              <a:t>, %</a:t>
            </a:r>
            <a:r>
              <a:rPr lang="es-ES" dirty="0" err="1"/>
              <a:t>eax</a:t>
            </a:r>
            <a:endParaRPr lang="es-ES" dirty="0"/>
          </a:p>
          <a:p>
            <a:br>
              <a:rPr lang="es-ES" dirty="0"/>
            </a:br>
            <a:r>
              <a:rPr lang="es-ES" dirty="0" err="1"/>
              <a:t>movl</a:t>
            </a:r>
            <a:r>
              <a:rPr lang="es-ES" dirty="0"/>
              <a:t> %</a:t>
            </a:r>
            <a:r>
              <a:rPr lang="es-ES" dirty="0" err="1"/>
              <a:t>ebp</a:t>
            </a:r>
            <a:r>
              <a:rPr lang="es-ES" dirty="0"/>
              <a:t>, %</a:t>
            </a:r>
            <a:r>
              <a:rPr lang="es-ES" dirty="0" err="1"/>
              <a:t>esp</a:t>
            </a:r>
            <a:endParaRPr lang="es-ES" dirty="0"/>
          </a:p>
          <a:p>
            <a:r>
              <a:rPr lang="es-ES" dirty="0" err="1"/>
              <a:t>popl</a:t>
            </a:r>
            <a:r>
              <a:rPr lang="es-ES" dirty="0"/>
              <a:t> %</a:t>
            </a:r>
            <a:r>
              <a:rPr lang="es-ES" dirty="0" err="1"/>
              <a:t>ebp</a:t>
            </a:r>
            <a:endParaRPr lang="es-ES" dirty="0"/>
          </a:p>
          <a:p>
            <a:r>
              <a:rPr lang="es-ES" dirty="0" err="1"/>
              <a:t>ret</a:t>
            </a:r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895621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30FDFB-918A-49CF-B857-4B4502FDD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0198" y="2239020"/>
            <a:ext cx="9905998" cy="1905000"/>
          </a:xfrm>
        </p:spPr>
        <p:txBody>
          <a:bodyPr/>
          <a:lstStyle/>
          <a:p>
            <a:r>
              <a:rPr lang="es-ES" b="1" dirty="0" err="1"/>
              <a:t>Thanks</a:t>
            </a:r>
            <a:r>
              <a:rPr lang="es-ES" b="1" dirty="0"/>
              <a:t> </a:t>
            </a:r>
            <a:r>
              <a:rPr lang="es-ES" b="1" dirty="0" err="1"/>
              <a:t>for</a:t>
            </a:r>
            <a:r>
              <a:rPr lang="es-ES" b="1" dirty="0"/>
              <a:t> </a:t>
            </a:r>
            <a:r>
              <a:rPr lang="es-ES" b="1" dirty="0" err="1"/>
              <a:t>the</a:t>
            </a:r>
            <a:r>
              <a:rPr lang="es-ES" b="1" dirty="0"/>
              <a:t> </a:t>
            </a:r>
            <a:r>
              <a:rPr lang="es-ES" b="1" dirty="0" err="1"/>
              <a:t>attention</a:t>
            </a:r>
            <a:r>
              <a:rPr lang="es-ES" b="1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97785699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lla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TM03457485[[fn=Malla]]</Template>
  <TotalTime>112</TotalTime>
  <Words>234</Words>
  <Application>Microsoft Office PowerPoint</Application>
  <PresentationFormat>Panorámica</PresentationFormat>
  <Paragraphs>79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Century Gothic</vt:lpstr>
      <vt:lpstr>Malla</vt:lpstr>
      <vt:lpstr>Language Processors</vt:lpstr>
      <vt:lpstr>Index</vt:lpstr>
      <vt:lpstr>Grammar</vt:lpstr>
      <vt:lpstr>Things Supported</vt:lpstr>
      <vt:lpstr>Data structure</vt:lpstr>
      <vt:lpstr>Example</vt:lpstr>
      <vt:lpstr>Thanks for the attention!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Procesadores de lenguajes</dc:title>
  <dc:creator>Rafael Román Aguilar</dc:creator>
  <cp:lastModifiedBy>Juan Ruiz Bonald</cp:lastModifiedBy>
  <cp:revision>35</cp:revision>
  <dcterms:created xsi:type="dcterms:W3CDTF">2019-05-29T08:35:41Z</dcterms:created>
  <dcterms:modified xsi:type="dcterms:W3CDTF">2019-05-30T14:54:11Z</dcterms:modified>
</cp:coreProperties>
</file>