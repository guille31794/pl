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>
        <p:scale>
          <a:sx n="95" d="100"/>
          <a:sy n="95" d="100"/>
        </p:scale>
        <p:origin x="1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70799-299E-4AF3-83BC-B969DE1D4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</a:t>
            </a:r>
            <a:r>
              <a:rPr lang="es-ES" dirty="0"/>
              <a:t> </a:t>
            </a:r>
            <a:r>
              <a:rPr lang="en-US" dirty="0"/>
              <a:t>Processors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433AF-1BE7-4783-9423-6C55267AEE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/>
              <a:t>Translator</a:t>
            </a:r>
            <a:r>
              <a:rPr lang="es-ES" dirty="0"/>
              <a:t> C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Assembler</a:t>
            </a:r>
            <a:r>
              <a:rPr lang="es-ES" dirty="0"/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A13FFD-78CF-4375-9127-FF40FCC2B9ED}"/>
              </a:ext>
            </a:extLst>
          </p:cNvPr>
          <p:cNvSpPr txBox="1"/>
          <p:nvPr/>
        </p:nvSpPr>
        <p:spPr>
          <a:xfrm>
            <a:off x="317535" y="5325069"/>
            <a:ext cx="2866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Authors</a:t>
            </a:r>
            <a:endParaRPr lang="es-ES" b="1" dirty="0"/>
          </a:p>
          <a:p>
            <a:r>
              <a:rPr lang="es-ES" dirty="0"/>
              <a:t>Juan Ruiz Bonald</a:t>
            </a:r>
          </a:p>
          <a:p>
            <a:r>
              <a:rPr lang="es-ES" dirty="0"/>
              <a:t>Rafael Román Aguilar</a:t>
            </a:r>
          </a:p>
        </p:txBody>
      </p:sp>
    </p:spTree>
    <p:extLst>
      <p:ext uri="{BB962C8B-B14F-4D97-AF65-F5344CB8AC3E}">
        <p14:creationId xmlns:p14="http://schemas.microsoft.com/office/powerpoint/2010/main" val="354173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32D99-5AAD-4CB8-856A-9B65BBBA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Index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B52C9C-D619-450D-B701-38EEDCD7F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28845"/>
            <a:ext cx="9905998" cy="3124201"/>
          </a:xfrm>
        </p:spPr>
        <p:txBody>
          <a:bodyPr/>
          <a:lstStyle/>
          <a:p>
            <a:r>
              <a:rPr lang="es-ES" dirty="0" err="1"/>
              <a:t>Grammar</a:t>
            </a:r>
            <a:endParaRPr lang="es-ES" dirty="0"/>
          </a:p>
          <a:p>
            <a:r>
              <a:rPr lang="es-ES" dirty="0" err="1"/>
              <a:t>Things</a:t>
            </a:r>
            <a:r>
              <a:rPr lang="es-ES" dirty="0"/>
              <a:t> </a:t>
            </a:r>
            <a:r>
              <a:rPr lang="es-ES" dirty="0" err="1"/>
              <a:t>Supported</a:t>
            </a:r>
            <a:endParaRPr lang="es-ES" dirty="0"/>
          </a:p>
          <a:p>
            <a:r>
              <a:rPr lang="es-ES" dirty="0"/>
              <a:t>Data </a:t>
            </a:r>
            <a:r>
              <a:rPr lang="es-ES" dirty="0" err="1"/>
              <a:t>Structure</a:t>
            </a:r>
            <a:endParaRPr lang="es-ES" dirty="0"/>
          </a:p>
          <a:p>
            <a:r>
              <a:rPr lang="es-ES" dirty="0" err="1"/>
              <a:t>examples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13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3318A-22DD-4BBC-AFDA-5C93D19F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1" y="-538375"/>
            <a:ext cx="9905998" cy="1905000"/>
          </a:xfrm>
        </p:spPr>
        <p:txBody>
          <a:bodyPr/>
          <a:lstStyle/>
          <a:p>
            <a:r>
              <a:rPr lang="es-ES" b="1" dirty="0" err="1"/>
              <a:t>Grammar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E3671-99BE-442F-BE26-D7ABC3F44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476" y="728769"/>
            <a:ext cx="11790880" cy="646267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b="1" dirty="0">
                <a:effectLst/>
              </a:rPr>
              <a:t>entrada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instruccion</a:t>
            </a:r>
            <a:r>
              <a:rPr lang="es-ES" dirty="0">
                <a:effectLst/>
              </a:rPr>
              <a:t> entrada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instruccion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funcion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asignacion</a:t>
            </a:r>
            <a:r>
              <a:rPr lang="es-ES" dirty="0">
                <a:effectLst/>
              </a:rPr>
              <a:t> ';' | condicional | </a:t>
            </a:r>
            <a:r>
              <a:rPr lang="es-ES" dirty="0" err="1">
                <a:effectLst/>
              </a:rPr>
              <a:t>inicializacion</a:t>
            </a:r>
            <a:r>
              <a:rPr lang="es-ES" dirty="0">
                <a:effectLst/>
              </a:rPr>
              <a:t> ';’</a:t>
            </a:r>
          </a:p>
          <a:p>
            <a:pPr marL="0" indent="0">
              <a:buNone/>
            </a:pPr>
            <a:endParaRPr lang="es-ES" dirty="0">
              <a:effectLst/>
            </a:endParaRPr>
          </a:p>
          <a:p>
            <a:pPr marL="0" indent="0">
              <a:buNone/>
            </a:pPr>
            <a:r>
              <a:rPr lang="es-ES" b="1" dirty="0" err="1">
                <a:effectLst/>
              </a:rPr>
              <a:t>funcion</a:t>
            </a:r>
            <a:r>
              <a:rPr lang="es-ES" dirty="0">
                <a:effectLst/>
              </a:rPr>
              <a:t> → TIPO ID '(' </a:t>
            </a:r>
            <a:r>
              <a:rPr lang="es-ES" dirty="0" err="1">
                <a:effectLst/>
              </a:rPr>
              <a:t>inicialización_cabecera</a:t>
            </a:r>
            <a:r>
              <a:rPr lang="es-ES" dirty="0">
                <a:effectLst/>
              </a:rPr>
              <a:t> ')' '{' contenido '}'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condicional</a:t>
            </a:r>
            <a:r>
              <a:rPr lang="es-ES" dirty="0">
                <a:effectLst/>
              </a:rPr>
              <a:t> → IF '('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 ')' '{' contenido '}' | IF '('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 ')' '{' contenido '}' ELSE '{' contenido '}’ | </a:t>
            </a:r>
          </a:p>
          <a:p>
            <a:pPr marL="0" indent="0">
              <a:buNone/>
            </a:pPr>
            <a:r>
              <a:rPr lang="es-ES" dirty="0">
                <a:effectLst/>
              </a:rPr>
              <a:t>		        WHILE '('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 ')' '{‘contenido '}'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contenido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asignacion</a:t>
            </a:r>
            <a:r>
              <a:rPr lang="es-ES" dirty="0">
                <a:effectLst/>
              </a:rPr>
              <a:t> ';' contenido | </a:t>
            </a:r>
            <a:r>
              <a:rPr lang="es-ES" dirty="0" err="1">
                <a:effectLst/>
              </a:rPr>
              <a:t>inicializacion</a:t>
            </a:r>
            <a:r>
              <a:rPr lang="es-ES" dirty="0">
                <a:effectLst/>
              </a:rPr>
              <a:t> ';' contenido | condicional contenido | retorno ';' contenido |</a:t>
            </a:r>
          </a:p>
          <a:p>
            <a:pPr marL="0" indent="0">
              <a:buNone/>
            </a:pPr>
            <a:r>
              <a:rPr lang="es-ES" dirty="0">
                <a:effectLst/>
              </a:rPr>
              <a:t>		   leer ';' contenido | imprimir  ';' contenido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leer</a:t>
            </a:r>
            <a:r>
              <a:rPr lang="es-ES" dirty="0">
                <a:effectLst/>
              </a:rPr>
              <a:t> → SCANF '(' STRING ',' '&amp;' ID </a:t>
            </a:r>
            <a:r>
              <a:rPr lang="es-ES" dirty="0" err="1">
                <a:effectLst/>
              </a:rPr>
              <a:t>leer_opc</a:t>
            </a:r>
            <a:r>
              <a:rPr lang="es-ES" dirty="0">
                <a:effectLst/>
              </a:rPr>
              <a:t> ')' </a:t>
            </a:r>
            <a:br>
              <a:rPr lang="es-ES" dirty="0"/>
            </a:br>
            <a:r>
              <a:rPr lang="es-ES" b="1" dirty="0" err="1">
                <a:effectLst/>
              </a:rPr>
              <a:t>leer_opc</a:t>
            </a:r>
            <a:r>
              <a:rPr lang="es-ES" dirty="0">
                <a:effectLst/>
              </a:rPr>
              <a:t> → ',' '&amp;' ID </a:t>
            </a:r>
            <a:r>
              <a:rPr lang="es-ES" dirty="0" err="1">
                <a:effectLst/>
              </a:rPr>
              <a:t>leer_opc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</a:p>
          <a:p>
            <a:pPr marL="0" indent="0">
              <a:buNone/>
            </a:pPr>
            <a:r>
              <a:rPr lang="es-ES" b="1" dirty="0">
                <a:effectLst/>
              </a:rPr>
              <a:t>imprimir</a:t>
            </a:r>
            <a:r>
              <a:rPr lang="es-ES" dirty="0">
                <a:effectLst/>
              </a:rPr>
              <a:t> → PRINTF '(' STRING </a:t>
            </a:r>
            <a:r>
              <a:rPr lang="es-ES" dirty="0" err="1">
                <a:effectLst/>
              </a:rPr>
              <a:t>imprimir_opc</a:t>
            </a:r>
            <a:r>
              <a:rPr lang="es-ES" dirty="0">
                <a:effectLst/>
              </a:rPr>
              <a:t> ')'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imprimir_opc</a:t>
            </a:r>
            <a:r>
              <a:rPr lang="es-ES" dirty="0">
                <a:effectLst/>
              </a:rPr>
              <a:t> → ',' '&amp;' ID </a:t>
            </a:r>
            <a:r>
              <a:rPr lang="es-ES" dirty="0" err="1">
                <a:effectLst/>
              </a:rPr>
              <a:t>imprimir_opc</a:t>
            </a:r>
            <a:r>
              <a:rPr lang="es-ES" dirty="0">
                <a:effectLst/>
              </a:rPr>
              <a:t> | ',' ID </a:t>
            </a:r>
            <a:r>
              <a:rPr lang="es-ES" dirty="0" err="1">
                <a:effectLst/>
              </a:rPr>
              <a:t>imprimir_opc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retorno</a:t>
            </a:r>
            <a:r>
              <a:rPr lang="es-ES" dirty="0">
                <a:effectLst/>
              </a:rPr>
              <a:t> → RETURN devuelve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devuelve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operacion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asignacion</a:t>
            </a:r>
            <a:r>
              <a:rPr lang="es-ES" dirty="0">
                <a:effectLst/>
              </a:rPr>
              <a:t> → ID ASSIGN </a:t>
            </a:r>
            <a:r>
              <a:rPr lang="es-ES" dirty="0" err="1">
                <a:effectLst/>
              </a:rPr>
              <a:t>operacion</a:t>
            </a:r>
            <a:endParaRPr lang="es-ES" dirty="0">
              <a:effectLst/>
            </a:endParaRPr>
          </a:p>
          <a:p>
            <a:pPr marL="0" indent="0">
              <a:buNone/>
            </a:pPr>
            <a:r>
              <a:rPr lang="es-ES" b="1" dirty="0" err="1">
                <a:effectLst/>
              </a:rPr>
              <a:t>operacion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operacionLog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exprLog</a:t>
            </a:r>
            <a:r>
              <a:rPr lang="es-ES" dirty="0">
                <a:effectLst/>
              </a:rPr>
              <a:t> → factor AND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 | factor EQ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 | factor (EQ, LT, LE, GT, GE, NE, AND, OR, NOT)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 | factor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operacionAri</a:t>
            </a:r>
            <a:r>
              <a:rPr lang="es-ES" dirty="0">
                <a:effectLst/>
              </a:rPr>
              <a:t> → sum PLUS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| sum MINUS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| sum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sum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TIMES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DIVIDE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exprAri</a:t>
            </a:r>
            <a:r>
              <a:rPr lang="es-ES" dirty="0">
                <a:effectLst/>
              </a:rPr>
              <a:t> → '('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')' | factor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factor</a:t>
            </a:r>
            <a:r>
              <a:rPr lang="es-ES" dirty="0">
                <a:effectLst/>
              </a:rPr>
              <a:t> → MINUS NUMBER | NUMBER | ID</a:t>
            </a:r>
          </a:p>
          <a:p>
            <a:pPr marL="0" indent="0">
              <a:buNone/>
            </a:pPr>
            <a:r>
              <a:rPr lang="es-ES" b="1" dirty="0" err="1">
                <a:effectLst/>
              </a:rPr>
              <a:t>inicializacion_cabecera</a:t>
            </a:r>
            <a:r>
              <a:rPr lang="es-ES" dirty="0">
                <a:effectLst/>
              </a:rPr>
              <a:t> → TIPO ID </a:t>
            </a:r>
            <a:r>
              <a:rPr lang="es-ES" dirty="0" err="1">
                <a:effectLst/>
              </a:rPr>
              <a:t>Resto_cabecera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resto_cabecera</a:t>
            </a:r>
            <a:r>
              <a:rPr lang="es-ES" dirty="0">
                <a:effectLst/>
              </a:rPr>
              <a:t> → ',' TIPO ID </a:t>
            </a:r>
            <a:r>
              <a:rPr lang="es-ES" dirty="0" err="1">
                <a:effectLst/>
              </a:rPr>
              <a:t>Resto_cabecera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</a:p>
          <a:p>
            <a:pPr marL="0" indent="0">
              <a:buNone/>
            </a:pPr>
            <a:r>
              <a:rPr lang="es-ES" b="1" dirty="0" err="1">
                <a:effectLst/>
              </a:rPr>
              <a:t>inicializacion</a:t>
            </a:r>
            <a:r>
              <a:rPr lang="es-ES" dirty="0">
                <a:effectLst/>
              </a:rPr>
              <a:t> → TIPO ID resto | TIPO ID </a:t>
            </a:r>
            <a:r>
              <a:rPr lang="es-ES" dirty="0" err="1">
                <a:effectLst/>
              </a:rPr>
              <a:t>asignacion_ini</a:t>
            </a:r>
            <a:r>
              <a:rPr lang="es-ES" dirty="0">
                <a:effectLst/>
              </a:rPr>
              <a:t> resto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asignacion_ini</a:t>
            </a:r>
            <a:r>
              <a:rPr lang="es-ES" dirty="0">
                <a:effectLst/>
              </a:rPr>
              <a:t> → ASSIGN </a:t>
            </a:r>
            <a:r>
              <a:rPr lang="es-ES" dirty="0" err="1">
                <a:effectLst/>
              </a:rPr>
              <a:t>operacion</a:t>
            </a:r>
            <a:r>
              <a:rPr lang="es-ES" dirty="0">
                <a:effectLst/>
              </a:rPr>
              <a:t> </a:t>
            </a:r>
          </a:p>
          <a:p>
            <a:pPr marL="0" indent="0">
              <a:buNone/>
            </a:pP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TIPO</a:t>
            </a:r>
            <a:r>
              <a:rPr lang="es-ES" dirty="0">
                <a:effectLst/>
              </a:rPr>
              <a:t> → INT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resto</a:t>
            </a:r>
            <a:r>
              <a:rPr lang="es-ES" dirty="0">
                <a:effectLst/>
              </a:rPr>
              <a:t> → ',' ID resto | ',' ID </a:t>
            </a:r>
            <a:r>
              <a:rPr lang="es-ES" dirty="0" err="1">
                <a:effectLst/>
              </a:rPr>
              <a:t>asignacion</a:t>
            </a:r>
            <a:r>
              <a:rPr lang="es-ES" dirty="0">
                <a:effectLst/>
              </a:rPr>
              <a:t> resto | </a:t>
            </a:r>
            <a:r>
              <a:rPr lang="es-ES" dirty="0" err="1">
                <a:effectLst/>
              </a:rPr>
              <a:t>Epsilon</a:t>
            </a:r>
            <a:endParaRPr lang="es-ES" dirty="0">
              <a:effectLst/>
            </a:endParaRPr>
          </a:p>
          <a:p>
            <a:pPr marL="0" indent="0">
              <a:buNone/>
            </a:pPr>
            <a:br>
              <a:rPr lang="es-ES" dirty="0">
                <a:effectLst/>
              </a:rPr>
            </a:br>
            <a:endParaRPr lang="es-ES" dirty="0"/>
          </a:p>
        </p:txBody>
      </p:sp>
      <p:sp>
        <p:nvSpPr>
          <p:cNvPr id="4" name="Abrir corchete 3">
            <a:extLst>
              <a:ext uri="{FF2B5EF4-FFF2-40B4-BE49-F238E27FC236}">
                <a16:creationId xmlns:a16="http://schemas.microsoft.com/office/drawing/2014/main" id="{18CCEBA2-9A16-4853-9FC7-74F04DE3EA68}"/>
              </a:ext>
            </a:extLst>
          </p:cNvPr>
          <p:cNvSpPr/>
          <p:nvPr/>
        </p:nvSpPr>
        <p:spPr>
          <a:xfrm>
            <a:off x="1365238" y="712157"/>
            <a:ext cx="185300" cy="654468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Abrir corchete 4">
            <a:extLst>
              <a:ext uri="{FF2B5EF4-FFF2-40B4-BE49-F238E27FC236}">
                <a16:creationId xmlns:a16="http://schemas.microsoft.com/office/drawing/2014/main" id="{8E255974-CDDA-4DE1-8A58-370D9B396ED1}"/>
              </a:ext>
            </a:extLst>
          </p:cNvPr>
          <p:cNvSpPr/>
          <p:nvPr/>
        </p:nvSpPr>
        <p:spPr>
          <a:xfrm>
            <a:off x="1389560" y="1526578"/>
            <a:ext cx="185299" cy="2239179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Abrir corchete 5">
            <a:extLst>
              <a:ext uri="{FF2B5EF4-FFF2-40B4-BE49-F238E27FC236}">
                <a16:creationId xmlns:a16="http://schemas.microsoft.com/office/drawing/2014/main" id="{909B3A56-89D0-45CC-8E23-DA89C93939D4}"/>
              </a:ext>
            </a:extLst>
          </p:cNvPr>
          <p:cNvSpPr/>
          <p:nvPr/>
        </p:nvSpPr>
        <p:spPr>
          <a:xfrm>
            <a:off x="1401272" y="3838733"/>
            <a:ext cx="185299" cy="1186033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Abrir corchete 6">
            <a:extLst>
              <a:ext uri="{FF2B5EF4-FFF2-40B4-BE49-F238E27FC236}">
                <a16:creationId xmlns:a16="http://schemas.microsoft.com/office/drawing/2014/main" id="{1EAC71CE-E867-48AB-8B89-FB4D2882DA0A}"/>
              </a:ext>
            </a:extLst>
          </p:cNvPr>
          <p:cNvSpPr/>
          <p:nvPr/>
        </p:nvSpPr>
        <p:spPr>
          <a:xfrm>
            <a:off x="1361412" y="5130007"/>
            <a:ext cx="163074" cy="823240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Abrir corchete 8">
            <a:extLst>
              <a:ext uri="{FF2B5EF4-FFF2-40B4-BE49-F238E27FC236}">
                <a16:creationId xmlns:a16="http://schemas.microsoft.com/office/drawing/2014/main" id="{F6D3E658-BF02-4D99-A766-D7D1521E60C7}"/>
              </a:ext>
            </a:extLst>
          </p:cNvPr>
          <p:cNvSpPr/>
          <p:nvPr/>
        </p:nvSpPr>
        <p:spPr>
          <a:xfrm>
            <a:off x="1359777" y="6199852"/>
            <a:ext cx="187397" cy="457350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10F86BD-6CFB-4C88-8CB1-8F60DBE427B5}"/>
              </a:ext>
            </a:extLst>
          </p:cNvPr>
          <p:cNvSpPr txBox="1"/>
          <p:nvPr/>
        </p:nvSpPr>
        <p:spPr>
          <a:xfrm>
            <a:off x="526151" y="2060746"/>
            <a:ext cx="88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BODY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6931E5-639D-41B9-A64A-2D44277DEBA7}"/>
              </a:ext>
            </a:extLst>
          </p:cNvPr>
          <p:cNvSpPr txBox="1"/>
          <p:nvPr/>
        </p:nvSpPr>
        <p:spPr>
          <a:xfrm>
            <a:off x="514373" y="890441"/>
            <a:ext cx="88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HEAD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4201DE-8C56-4EC2-A869-4F84FA137248}"/>
              </a:ext>
            </a:extLst>
          </p:cNvPr>
          <p:cNvSpPr txBox="1"/>
          <p:nvPr/>
        </p:nvSpPr>
        <p:spPr>
          <a:xfrm>
            <a:off x="22830" y="4147541"/>
            <a:ext cx="1893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OPERATIONS</a:t>
            </a:r>
            <a:endParaRPr lang="es-ES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978A703-B46A-4FE7-AB5E-B753E2A44C49}"/>
              </a:ext>
            </a:extLst>
          </p:cNvPr>
          <p:cNvSpPr txBox="1"/>
          <p:nvPr/>
        </p:nvSpPr>
        <p:spPr>
          <a:xfrm>
            <a:off x="-34177" y="5406550"/>
            <a:ext cx="1821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INITIALIZATION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71E38EA-17CC-4619-BBA7-7AE419780FF0}"/>
              </a:ext>
            </a:extLst>
          </p:cNvPr>
          <p:cNvSpPr txBox="1"/>
          <p:nvPr/>
        </p:nvSpPr>
        <p:spPr>
          <a:xfrm>
            <a:off x="235859" y="6059195"/>
            <a:ext cx="11587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RULES DERIVED TO TOKEN</a:t>
            </a:r>
          </a:p>
        </p:txBody>
      </p:sp>
    </p:spTree>
    <p:extLst>
      <p:ext uri="{BB962C8B-B14F-4D97-AF65-F5344CB8AC3E}">
        <p14:creationId xmlns:p14="http://schemas.microsoft.com/office/powerpoint/2010/main" val="4074380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EA72A-1D81-45C7-938F-F6EA4664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Things</a:t>
            </a:r>
            <a:r>
              <a:rPr lang="es-ES" b="1" dirty="0"/>
              <a:t> </a:t>
            </a:r>
            <a:r>
              <a:rPr lang="es-ES" b="1" dirty="0" err="1"/>
              <a:t>Supported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CC2E2-E032-4314-BB52-1DFCA193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48232"/>
            <a:ext cx="9905998" cy="3124201"/>
          </a:xfrm>
        </p:spPr>
        <p:txBody>
          <a:bodyPr/>
          <a:lstStyle/>
          <a:p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Arithmetic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Logical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Variables (Global and Local)</a:t>
            </a:r>
          </a:p>
          <a:p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parameters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calling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Assignment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Initialization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Conditional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(IF/ELSE and WHILE),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endParaRPr lang="es-E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4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8BC65-509B-4330-9053-B4457A7F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Data </a:t>
            </a:r>
            <a:r>
              <a:rPr lang="es-ES" b="1" dirty="0" err="1"/>
              <a:t>structure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6A8ECB-F78B-467B-B391-4A28BF9C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/>
              <a:t>UP </a:t>
            </a:r>
            <a:r>
              <a:rPr lang="es-ES" b="1" dirty="0" err="1"/>
              <a:t>Implementation</a:t>
            </a:r>
            <a:endParaRPr lang="es-ES" b="1" dirty="0"/>
          </a:p>
          <a:p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created</a:t>
            </a:r>
            <a:r>
              <a:rPr lang="es-ES" dirty="0"/>
              <a:t> a “table” (in </a:t>
            </a:r>
            <a:r>
              <a:rPr lang="es-ES" dirty="0" err="1"/>
              <a:t>python</a:t>
            </a:r>
            <a:r>
              <a:rPr lang="es-ES" dirty="0"/>
              <a:t>)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save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variables and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distinct</a:t>
            </a:r>
            <a:r>
              <a:rPr lang="es-ES" dirty="0"/>
              <a:t> </a:t>
            </a:r>
            <a:r>
              <a:rPr lang="es-ES" dirty="0" err="1"/>
              <a:t>them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Global </a:t>
            </a:r>
            <a:r>
              <a:rPr lang="es-ES" dirty="0" err="1"/>
              <a:t>or</a:t>
            </a:r>
            <a:r>
              <a:rPr lang="es-ES" dirty="0"/>
              <a:t> Local. </a:t>
            </a:r>
            <a:r>
              <a:rPr lang="es-ES" dirty="0" err="1"/>
              <a:t>Also</a:t>
            </a:r>
            <a:r>
              <a:rPr lang="es-ES" dirty="0"/>
              <a:t>, </a:t>
            </a:r>
            <a:r>
              <a:rPr lang="es-ES" dirty="0" err="1"/>
              <a:t>an</a:t>
            </a:r>
            <a:r>
              <a:rPr lang="es-ES" dirty="0"/>
              <a:t> array </a:t>
            </a:r>
            <a:r>
              <a:rPr lang="es-ES" dirty="0" err="1"/>
              <a:t>stores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strings</a:t>
            </a:r>
            <a:r>
              <a:rPr lang="es-ES" dirty="0"/>
              <a:t> (ID and Position in </a:t>
            </a:r>
            <a:r>
              <a:rPr lang="es-ES" dirty="0" err="1"/>
              <a:t>stack</a:t>
            </a:r>
            <a:r>
              <a:rPr lang="es-ES" dirty="0"/>
              <a:t> (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global, </a:t>
            </a:r>
            <a:r>
              <a:rPr lang="es-ES" dirty="0" err="1"/>
              <a:t>its</a:t>
            </a:r>
            <a:r>
              <a:rPr lang="es-ES" dirty="0"/>
              <a:t> ID))</a:t>
            </a:r>
          </a:p>
          <a:p>
            <a:r>
              <a:rPr lang="en-US" dirty="0"/>
              <a:t>We have global variables (</a:t>
            </a:r>
            <a:r>
              <a:rPr lang="es-ES" dirty="0"/>
              <a:t>in </a:t>
            </a:r>
            <a:r>
              <a:rPr lang="es-ES" dirty="0" err="1"/>
              <a:t>python</a:t>
            </a:r>
            <a:r>
              <a:rPr lang="en-US" dirty="0"/>
              <a:t>) for controlling the initialization of global and local variables, the number of the stack and the parameters that receive the functions</a:t>
            </a:r>
          </a:p>
          <a:p>
            <a:r>
              <a:rPr lang="en-US" dirty="0"/>
              <a:t>We have used several nodes in the implementation of the AST as </a:t>
            </a:r>
            <a:r>
              <a:rPr lang="en-US" dirty="0" err="1"/>
              <a:t>NodoFuncion</a:t>
            </a:r>
            <a:r>
              <a:rPr lang="en-US" dirty="0"/>
              <a:t>, </a:t>
            </a:r>
            <a:r>
              <a:rPr lang="en-US" dirty="0" err="1"/>
              <a:t>NodoInic</a:t>
            </a:r>
            <a:r>
              <a:rPr lang="en-US" dirty="0"/>
              <a:t>, </a:t>
            </a:r>
            <a:r>
              <a:rPr lang="en-US" dirty="0" err="1"/>
              <a:t>NodoVariables</a:t>
            </a:r>
            <a:r>
              <a:rPr lang="en-US" dirty="0"/>
              <a:t> and </a:t>
            </a:r>
            <a:r>
              <a:rPr lang="en-US" dirty="0" err="1"/>
              <a:t>NodoOperaciones</a:t>
            </a:r>
            <a:r>
              <a:rPr lang="en-US" dirty="0"/>
              <a:t>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72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0926E-FA14-441C-8AEB-D1A00F21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Example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A17CD9-8434-4E79-8FDF-813C4C2F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928" y="2206362"/>
            <a:ext cx="3196831" cy="3878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a;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main()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a = 1 &amp;&amp; 0;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a = 4 + 1;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	int</a:t>
            </a:r>
            <a:r>
              <a:rPr lang="en-US" b="1" dirty="0">
                <a:effectLst/>
              </a:rPr>
              <a:t> b;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b = a * 2;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return b/a;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}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2DCDD1-B1D2-4904-89FA-6DE18D1DF453}"/>
              </a:ext>
            </a:extLst>
          </p:cNvPr>
          <p:cNvSpPr txBox="1"/>
          <p:nvPr/>
        </p:nvSpPr>
        <p:spPr>
          <a:xfrm>
            <a:off x="5012012" y="609600"/>
            <a:ext cx="293570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text</a:t>
            </a:r>
            <a:endParaRPr lang="es-ES" dirty="0"/>
          </a:p>
          <a:p>
            <a:r>
              <a:rPr lang="es-ES" dirty="0"/>
              <a:t>.</a:t>
            </a:r>
            <a:r>
              <a:rPr lang="es-ES" dirty="0" err="1"/>
              <a:t>globl</a:t>
            </a:r>
            <a:r>
              <a:rPr lang="es-ES" dirty="0"/>
              <a:t> </a:t>
            </a:r>
            <a:r>
              <a:rPr lang="es-ES" dirty="0" err="1"/>
              <a:t>main</a:t>
            </a:r>
            <a:endParaRPr lang="es-ES" dirty="0"/>
          </a:p>
          <a:p>
            <a:r>
              <a:rPr lang="es-ES" dirty="0"/>
              <a:t>.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, @</a:t>
            </a:r>
            <a:r>
              <a:rPr lang="es-ES" dirty="0" err="1"/>
              <a:t>function</a:t>
            </a:r>
            <a:endParaRPr lang="es-ES" dirty="0"/>
          </a:p>
          <a:p>
            <a:r>
              <a:rPr lang="es-ES" dirty="0" err="1"/>
              <a:t>main</a:t>
            </a:r>
            <a:r>
              <a:rPr lang="es-ES" dirty="0"/>
              <a:t>:</a:t>
            </a:r>
          </a:p>
          <a:p>
            <a:r>
              <a:rPr lang="es-ES" dirty="0" err="1"/>
              <a:t>pushl</a:t>
            </a:r>
            <a:r>
              <a:rPr lang="es-ES" dirty="0"/>
              <a:t> %</a:t>
            </a:r>
            <a:r>
              <a:rPr lang="es-ES" dirty="0" err="1"/>
              <a:t>ebp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esp</a:t>
            </a:r>
            <a:r>
              <a:rPr lang="es-ES" dirty="0"/>
              <a:t>, %</a:t>
            </a:r>
            <a:r>
              <a:rPr lang="es-ES" dirty="0" err="1"/>
              <a:t>ebp</a:t>
            </a:r>
            <a:endParaRPr lang="es-ES" dirty="0"/>
          </a:p>
          <a:p>
            <a:br>
              <a:rPr lang="es-ES" dirty="0"/>
            </a:br>
            <a:r>
              <a:rPr lang="es-ES" dirty="0" err="1"/>
              <a:t>cmp</a:t>
            </a:r>
            <a:r>
              <a:rPr lang="es-ES" dirty="0"/>
              <a:t> $1,$0</a:t>
            </a:r>
          </a:p>
          <a:p>
            <a:r>
              <a:rPr lang="es-ES" dirty="0"/>
              <a:t>je AND</a:t>
            </a:r>
          </a:p>
          <a:p>
            <a:r>
              <a:rPr lang="es-ES" dirty="0" err="1"/>
              <a:t>cmp</a:t>
            </a:r>
            <a:r>
              <a:rPr lang="es-ES" dirty="0"/>
              <a:t> $0,$0</a:t>
            </a:r>
          </a:p>
          <a:p>
            <a:r>
              <a:rPr lang="es-ES" dirty="0"/>
              <a:t>je AND</a:t>
            </a:r>
          </a:p>
          <a:p>
            <a:r>
              <a:rPr lang="es-ES" dirty="0" err="1"/>
              <a:t>movl</a:t>
            </a:r>
            <a:r>
              <a:rPr lang="es-ES" dirty="0"/>
              <a:t> $1,%eax</a:t>
            </a:r>
          </a:p>
          <a:p>
            <a:r>
              <a:rPr lang="es-ES" dirty="0" err="1"/>
              <a:t>jmp</a:t>
            </a:r>
            <a:r>
              <a:rPr lang="es-ES" dirty="0"/>
              <a:t> F-AND</a:t>
            </a:r>
          </a:p>
          <a:p>
            <a:r>
              <a:rPr lang="es-ES" dirty="0"/>
              <a:t>AND:</a:t>
            </a:r>
          </a:p>
          <a:p>
            <a:r>
              <a:rPr lang="es-ES" dirty="0" err="1"/>
              <a:t>movl</a:t>
            </a:r>
            <a:r>
              <a:rPr lang="es-ES" dirty="0"/>
              <a:t> $0,%eax</a:t>
            </a:r>
          </a:p>
          <a:p>
            <a:r>
              <a:rPr lang="es-ES" dirty="0"/>
              <a:t>F-AND:</a:t>
            </a:r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a</a:t>
            </a:r>
          </a:p>
          <a:p>
            <a:r>
              <a:rPr lang="es-ES" dirty="0" err="1"/>
              <a:t>movl</a:t>
            </a:r>
            <a:r>
              <a:rPr lang="es-ES" dirty="0"/>
              <a:t> $4,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addl</a:t>
            </a:r>
            <a:r>
              <a:rPr lang="es-ES" dirty="0"/>
              <a:t> $1,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a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E6C6E1-2DFB-4484-B40E-7A5BF5FE4E0F}"/>
              </a:ext>
            </a:extLst>
          </p:cNvPr>
          <p:cNvSpPr txBox="1"/>
          <p:nvPr/>
        </p:nvSpPr>
        <p:spPr>
          <a:xfrm>
            <a:off x="8029711" y="687519"/>
            <a:ext cx="31968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subl</a:t>
            </a:r>
            <a:r>
              <a:rPr lang="es-ES" dirty="0"/>
              <a:t> $4, %</a:t>
            </a:r>
            <a:r>
              <a:rPr lang="es-ES" dirty="0" err="1"/>
              <a:t>esp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$2,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imull</a:t>
            </a:r>
            <a:r>
              <a:rPr lang="es-ES" dirty="0"/>
              <a:t> a,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-4(%</a:t>
            </a:r>
            <a:r>
              <a:rPr lang="es-ES" dirty="0" err="1"/>
              <a:t>ebp</a:t>
            </a:r>
            <a:r>
              <a:rPr lang="es-ES" dirty="0"/>
              <a:t>)</a:t>
            </a:r>
          </a:p>
          <a:p>
            <a:r>
              <a:rPr lang="es-ES" dirty="0" err="1"/>
              <a:t>movl</a:t>
            </a:r>
            <a:r>
              <a:rPr lang="es-ES" dirty="0"/>
              <a:t> -4(%</a:t>
            </a:r>
            <a:r>
              <a:rPr lang="es-ES" dirty="0" err="1"/>
              <a:t>ebp</a:t>
            </a:r>
            <a:r>
              <a:rPr lang="es-ES" dirty="0"/>
              <a:t>),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cdq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a, %</a:t>
            </a:r>
            <a:r>
              <a:rPr lang="es-ES" dirty="0" err="1"/>
              <a:t>ecx</a:t>
            </a:r>
            <a:endParaRPr lang="es-ES" dirty="0"/>
          </a:p>
          <a:p>
            <a:r>
              <a:rPr lang="es-ES" dirty="0" err="1"/>
              <a:t>divl</a:t>
            </a:r>
            <a:r>
              <a:rPr lang="es-ES" dirty="0"/>
              <a:t> %</a:t>
            </a:r>
            <a:r>
              <a:rPr lang="es-ES" dirty="0" err="1"/>
              <a:t>ecx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ecx</a:t>
            </a:r>
            <a:r>
              <a:rPr lang="es-ES" dirty="0"/>
              <a:t>, %</a:t>
            </a:r>
            <a:r>
              <a:rPr lang="es-ES" dirty="0" err="1"/>
              <a:t>eax</a:t>
            </a:r>
            <a:endParaRPr lang="es-ES" dirty="0"/>
          </a:p>
          <a:p>
            <a:br>
              <a:rPr lang="es-ES" dirty="0"/>
            </a:br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ebp</a:t>
            </a:r>
            <a:r>
              <a:rPr lang="es-ES" dirty="0"/>
              <a:t>, %</a:t>
            </a:r>
            <a:r>
              <a:rPr lang="es-ES" dirty="0" err="1"/>
              <a:t>esp</a:t>
            </a:r>
            <a:endParaRPr lang="es-ES" dirty="0"/>
          </a:p>
          <a:p>
            <a:r>
              <a:rPr lang="es-ES" dirty="0" err="1"/>
              <a:t>popl</a:t>
            </a:r>
            <a:r>
              <a:rPr lang="es-ES" dirty="0"/>
              <a:t> %</a:t>
            </a:r>
            <a:r>
              <a:rPr lang="es-ES" dirty="0" err="1"/>
              <a:t>ebp</a:t>
            </a:r>
            <a:endParaRPr lang="es-ES" dirty="0"/>
          </a:p>
          <a:p>
            <a:r>
              <a:rPr lang="es-ES" dirty="0" err="1"/>
              <a:t>ret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956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0926E-FA14-441C-8AEB-D1A00F21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Example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A17CD9-8434-4E79-8FDF-813C4C2F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63271"/>
            <a:ext cx="4437177" cy="50491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#include &lt;</a:t>
            </a:r>
            <a:r>
              <a:rPr lang="en-US" b="1" dirty="0" err="1">
                <a:effectLst/>
              </a:rPr>
              <a:t>stdio.h</a:t>
            </a:r>
            <a:r>
              <a:rPr lang="en-US" b="1" dirty="0">
                <a:effectLst/>
              </a:rPr>
              <a:t>&gt;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a;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main()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if(1 == 1)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{	 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	while(a!=1)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	{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	a = a + 1;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	}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} 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return 0;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}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100A8C-C512-4C2C-8763-0058758F2862}"/>
              </a:ext>
            </a:extLst>
          </p:cNvPr>
          <p:cNvSpPr txBox="1"/>
          <p:nvPr/>
        </p:nvSpPr>
        <p:spPr>
          <a:xfrm>
            <a:off x="4666131" y="141194"/>
            <a:ext cx="279026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section</a:t>
            </a:r>
            <a:r>
              <a:rPr lang="es-ES" dirty="0"/>
              <a:t> .</a:t>
            </a:r>
            <a:r>
              <a:rPr lang="es-ES" dirty="0" err="1"/>
              <a:t>rodata.text</a:t>
            </a:r>
            <a:endParaRPr lang="es-ES" dirty="0"/>
          </a:p>
          <a:p>
            <a:r>
              <a:rPr lang="es-ES" dirty="0"/>
              <a:t>.</a:t>
            </a:r>
            <a:r>
              <a:rPr lang="es-ES" dirty="0" err="1"/>
              <a:t>globl</a:t>
            </a:r>
            <a:r>
              <a:rPr lang="es-ES" dirty="0"/>
              <a:t> </a:t>
            </a:r>
            <a:r>
              <a:rPr lang="es-ES" dirty="0" err="1"/>
              <a:t>main</a:t>
            </a:r>
            <a:endParaRPr lang="es-ES" dirty="0"/>
          </a:p>
          <a:p>
            <a:r>
              <a:rPr lang="es-ES" dirty="0"/>
              <a:t>.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, @</a:t>
            </a:r>
            <a:r>
              <a:rPr lang="es-ES" dirty="0" err="1"/>
              <a:t>function</a:t>
            </a:r>
            <a:endParaRPr lang="es-ES" dirty="0"/>
          </a:p>
          <a:p>
            <a:r>
              <a:rPr lang="es-ES" dirty="0" err="1"/>
              <a:t>main</a:t>
            </a:r>
            <a:r>
              <a:rPr lang="es-ES" dirty="0"/>
              <a:t>:</a:t>
            </a:r>
          </a:p>
          <a:p>
            <a:r>
              <a:rPr lang="es-ES" dirty="0"/>
              <a:t>    </a:t>
            </a:r>
            <a:r>
              <a:rPr lang="es-ES" dirty="0" err="1"/>
              <a:t>pushl</a:t>
            </a:r>
            <a:r>
              <a:rPr lang="es-ES" dirty="0"/>
              <a:t> %</a:t>
            </a:r>
            <a:r>
              <a:rPr lang="es-ES" dirty="0" err="1"/>
              <a:t>ebp</a:t>
            </a:r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esp</a:t>
            </a:r>
            <a:r>
              <a:rPr lang="es-ES" dirty="0"/>
              <a:t>, %</a:t>
            </a:r>
            <a:r>
              <a:rPr lang="es-ES" dirty="0" err="1"/>
              <a:t>ebp</a:t>
            </a:r>
            <a:endParaRPr lang="es-ES" dirty="0"/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cmpl</a:t>
            </a:r>
            <a:r>
              <a:rPr lang="es-ES" dirty="0"/>
              <a:t> $1,$1</a:t>
            </a:r>
          </a:p>
          <a:p>
            <a:r>
              <a:rPr lang="es-ES" dirty="0"/>
              <a:t>    je EQ</a:t>
            </a:r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$0,%eax</a:t>
            </a:r>
          </a:p>
          <a:p>
            <a:r>
              <a:rPr lang="es-ES" dirty="0"/>
              <a:t>    </a:t>
            </a:r>
            <a:r>
              <a:rPr lang="es-ES" dirty="0" err="1"/>
              <a:t>jmp</a:t>
            </a:r>
            <a:r>
              <a:rPr lang="es-ES" dirty="0"/>
              <a:t> F-EQ</a:t>
            </a:r>
          </a:p>
          <a:p>
            <a:r>
              <a:rPr lang="es-ES" dirty="0"/>
              <a:t>EQ:</a:t>
            </a:r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$1,%eax</a:t>
            </a:r>
          </a:p>
          <a:p>
            <a:r>
              <a:rPr lang="es-ES" dirty="0"/>
              <a:t>F-EQ:</a:t>
            </a:r>
          </a:p>
          <a:p>
            <a:r>
              <a:rPr lang="es-ES" dirty="0"/>
              <a:t>    </a:t>
            </a:r>
            <a:r>
              <a:rPr lang="es-ES" dirty="0" err="1"/>
              <a:t>cmpl</a:t>
            </a:r>
            <a:r>
              <a:rPr lang="es-ES" dirty="0"/>
              <a:t> $0,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/>
              <a:t>    je final</a:t>
            </a:r>
          </a:p>
          <a:p>
            <a:r>
              <a:rPr lang="es-ES" dirty="0" err="1"/>
              <a:t>start</a:t>
            </a:r>
            <a:r>
              <a:rPr lang="es-ES" dirty="0"/>
              <a:t>:</a:t>
            </a:r>
          </a:p>
          <a:p>
            <a:r>
              <a:rPr lang="es-ES" dirty="0"/>
              <a:t>    </a:t>
            </a:r>
            <a:r>
              <a:rPr lang="es-ES" dirty="0" err="1"/>
              <a:t>cmpl</a:t>
            </a:r>
            <a:r>
              <a:rPr lang="es-ES" dirty="0"/>
              <a:t> a,$1</a:t>
            </a:r>
          </a:p>
          <a:p>
            <a:r>
              <a:rPr lang="es-ES" dirty="0"/>
              <a:t>    </a:t>
            </a:r>
            <a:r>
              <a:rPr lang="es-ES" dirty="0" err="1"/>
              <a:t>jne</a:t>
            </a:r>
            <a:r>
              <a:rPr lang="es-ES" dirty="0"/>
              <a:t> NE</a:t>
            </a:r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$0,%eax</a:t>
            </a:r>
          </a:p>
          <a:p>
            <a:r>
              <a:rPr lang="es-ES" dirty="0"/>
              <a:t>    </a:t>
            </a:r>
            <a:r>
              <a:rPr lang="es-ES" dirty="0" err="1"/>
              <a:t>jmp</a:t>
            </a:r>
            <a:r>
              <a:rPr lang="es-ES" dirty="0"/>
              <a:t> F-NE</a:t>
            </a:r>
          </a:p>
          <a:p>
            <a:r>
              <a:rPr lang="es-ES" dirty="0"/>
              <a:t>NE:</a:t>
            </a:r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$1,%eax</a:t>
            </a:r>
          </a:p>
          <a:p>
            <a:r>
              <a:rPr lang="es-ES" dirty="0"/>
              <a:t>F-NE:</a:t>
            </a:r>
          </a:p>
          <a:p>
            <a:r>
              <a:rPr lang="es-ES" dirty="0"/>
              <a:t>  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3B8B8E3-BC45-41DB-83A0-942AF7D836C9}"/>
              </a:ext>
            </a:extLst>
          </p:cNvPr>
          <p:cNvSpPr txBox="1"/>
          <p:nvPr/>
        </p:nvSpPr>
        <p:spPr>
          <a:xfrm>
            <a:off x="7906871" y="100853"/>
            <a:ext cx="39668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cmpl</a:t>
            </a:r>
            <a:r>
              <a:rPr lang="es-ES" dirty="0"/>
              <a:t> $0,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/>
              <a:t>    je final</a:t>
            </a:r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$1,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addl</a:t>
            </a:r>
            <a:r>
              <a:rPr lang="es-ES" dirty="0"/>
              <a:t> a,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a</a:t>
            </a:r>
          </a:p>
          <a:p>
            <a:r>
              <a:rPr lang="es-ES" dirty="0"/>
              <a:t>    </a:t>
            </a:r>
            <a:r>
              <a:rPr lang="es-ES" dirty="0" err="1"/>
              <a:t>jmp</a:t>
            </a:r>
            <a:r>
              <a:rPr lang="es-ES" dirty="0"/>
              <a:t> </a:t>
            </a:r>
            <a:r>
              <a:rPr lang="es-ES" dirty="0" err="1"/>
              <a:t>start</a:t>
            </a:r>
            <a:r>
              <a:rPr lang="es-ES" dirty="0"/>
              <a:t>:</a:t>
            </a:r>
          </a:p>
          <a:p>
            <a:r>
              <a:rPr lang="es-ES" dirty="0"/>
              <a:t>final:</a:t>
            </a:r>
          </a:p>
          <a:p>
            <a:r>
              <a:rPr lang="es-ES" dirty="0"/>
              <a:t>final:</a:t>
            </a:r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$0, %</a:t>
            </a:r>
            <a:r>
              <a:rPr lang="es-ES" dirty="0" err="1"/>
              <a:t>eax</a:t>
            </a:r>
            <a:endParaRPr lang="es-ES" dirty="0"/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ebp</a:t>
            </a:r>
            <a:r>
              <a:rPr lang="es-ES" dirty="0"/>
              <a:t>, %</a:t>
            </a:r>
            <a:r>
              <a:rPr lang="es-ES" dirty="0" err="1"/>
              <a:t>esp</a:t>
            </a:r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popl</a:t>
            </a:r>
            <a:r>
              <a:rPr lang="es-ES" dirty="0"/>
              <a:t> %</a:t>
            </a:r>
            <a:r>
              <a:rPr lang="es-ES" dirty="0" err="1"/>
              <a:t>ebp</a:t>
            </a:r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ret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620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3A54E-86FE-4417-A1F6-AC3EB8B7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2085881" cy="1905000"/>
          </a:xfrm>
        </p:spPr>
        <p:txBody>
          <a:bodyPr/>
          <a:lstStyle/>
          <a:p>
            <a:r>
              <a:rPr lang="es-ES" b="1" dirty="0" err="1"/>
              <a:t>Example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BD02B-3B81-4E8D-8399-5CED8B412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836" y="2122393"/>
            <a:ext cx="3840723" cy="33303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#include &lt;</a:t>
            </a:r>
            <a:r>
              <a:rPr lang="en-US" b="1" dirty="0" err="1">
                <a:effectLst/>
              </a:rPr>
              <a:t>stdio.h</a:t>
            </a:r>
            <a:r>
              <a:rPr lang="en-US" b="1" dirty="0">
                <a:effectLst/>
              </a:rPr>
              <a:t>&gt;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a;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main()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</a:t>
            </a:r>
            <a:r>
              <a:rPr lang="en-US" b="1" dirty="0" err="1">
                <a:effectLst/>
              </a:rPr>
              <a:t>scanf</a:t>
            </a:r>
            <a:r>
              <a:rPr lang="en-US" b="1" dirty="0">
                <a:effectLst/>
              </a:rPr>
              <a:t>("</a:t>
            </a:r>
            <a:r>
              <a:rPr lang="en-US" b="1" dirty="0" err="1">
                <a:effectLst/>
              </a:rPr>
              <a:t>Resultado</a:t>
            </a:r>
            <a:r>
              <a:rPr lang="en-US" b="1" dirty="0">
                <a:effectLst/>
              </a:rPr>
              <a:t>: %</a:t>
            </a:r>
            <a:r>
              <a:rPr lang="en-US" b="1" dirty="0" err="1">
                <a:effectLst/>
              </a:rPr>
              <a:t>i</a:t>
            </a:r>
            <a:r>
              <a:rPr lang="en-US" b="1" dirty="0">
                <a:effectLst/>
              </a:rPr>
              <a:t>",&amp;a);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</a:t>
            </a:r>
            <a:r>
              <a:rPr lang="en-US" b="1" dirty="0" err="1">
                <a:effectLst/>
              </a:rPr>
              <a:t>printf</a:t>
            </a:r>
            <a:r>
              <a:rPr lang="en-US" b="1" dirty="0">
                <a:effectLst/>
              </a:rPr>
              <a:t>("Final del </a:t>
            </a:r>
            <a:r>
              <a:rPr lang="en-US" b="1" dirty="0" err="1">
                <a:effectLst/>
              </a:rPr>
              <a:t>ejemplo</a:t>
            </a:r>
            <a:r>
              <a:rPr lang="en-US" b="1" dirty="0">
                <a:effectLst/>
              </a:rPr>
              <a:t>");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return 0;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}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309B97-E0C1-4F59-987E-EBD74C0A0F27}"/>
              </a:ext>
            </a:extLst>
          </p:cNvPr>
          <p:cNvSpPr txBox="1"/>
          <p:nvPr/>
        </p:nvSpPr>
        <p:spPr>
          <a:xfrm>
            <a:off x="6979023" y="432822"/>
            <a:ext cx="3208898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.</a:t>
            </a:r>
            <a:r>
              <a:rPr lang="es-ES" sz="1600" dirty="0" err="1"/>
              <a:t>section</a:t>
            </a:r>
            <a:r>
              <a:rPr lang="es-ES" sz="1600" dirty="0"/>
              <a:t> .</a:t>
            </a:r>
            <a:r>
              <a:rPr lang="es-ES" sz="1600" dirty="0" err="1"/>
              <a:t>rodata</a:t>
            </a:r>
            <a:endParaRPr lang="es-ES" sz="1600" dirty="0"/>
          </a:p>
          <a:p>
            <a:r>
              <a:rPr lang="es-ES" sz="1600" dirty="0"/>
              <a:t>.LC0:</a:t>
            </a:r>
          </a:p>
          <a:p>
            <a:r>
              <a:rPr lang="es-ES" sz="1600" dirty="0"/>
              <a:t>    .</a:t>
            </a:r>
            <a:r>
              <a:rPr lang="es-ES" sz="1600" dirty="0" err="1"/>
              <a:t>string</a:t>
            </a:r>
            <a:r>
              <a:rPr lang="es-ES" sz="1600" dirty="0"/>
              <a:t> "Resultado: %i"</a:t>
            </a:r>
          </a:p>
          <a:p>
            <a:br>
              <a:rPr lang="es-ES" sz="1600" dirty="0"/>
            </a:br>
            <a:r>
              <a:rPr lang="es-ES" sz="1600" dirty="0"/>
              <a:t>.LC1:</a:t>
            </a:r>
          </a:p>
          <a:p>
            <a:r>
              <a:rPr lang="es-ES" sz="1600" dirty="0"/>
              <a:t>    .</a:t>
            </a:r>
            <a:r>
              <a:rPr lang="es-ES" sz="1600" dirty="0" err="1"/>
              <a:t>string</a:t>
            </a:r>
            <a:r>
              <a:rPr lang="es-ES" sz="1600" dirty="0"/>
              <a:t> "Final del ejemplo"</a:t>
            </a:r>
          </a:p>
          <a:p>
            <a:r>
              <a:rPr lang="es-ES" sz="1600" dirty="0"/>
              <a:t>.</a:t>
            </a:r>
            <a:r>
              <a:rPr lang="es-ES" sz="1600" dirty="0" err="1"/>
              <a:t>text</a:t>
            </a:r>
            <a:endParaRPr lang="es-ES" sz="1600" dirty="0"/>
          </a:p>
          <a:p>
            <a:r>
              <a:rPr lang="es-ES" sz="1600" dirty="0"/>
              <a:t>.</a:t>
            </a:r>
            <a:r>
              <a:rPr lang="es-ES" sz="1600" dirty="0" err="1"/>
              <a:t>globl</a:t>
            </a:r>
            <a:r>
              <a:rPr lang="es-ES" sz="1600" dirty="0"/>
              <a:t> </a:t>
            </a:r>
            <a:r>
              <a:rPr lang="es-ES" sz="1600" dirty="0" err="1"/>
              <a:t>main</a:t>
            </a:r>
            <a:endParaRPr lang="es-ES" sz="1600" dirty="0"/>
          </a:p>
          <a:p>
            <a:r>
              <a:rPr lang="es-ES" sz="1600" dirty="0"/>
              <a:t>.</a:t>
            </a:r>
            <a:r>
              <a:rPr lang="es-ES" sz="1600" dirty="0" err="1"/>
              <a:t>type</a:t>
            </a:r>
            <a:r>
              <a:rPr lang="es-ES" sz="1600" dirty="0"/>
              <a:t> </a:t>
            </a:r>
            <a:r>
              <a:rPr lang="es-ES" sz="1600" dirty="0" err="1"/>
              <a:t>main</a:t>
            </a:r>
            <a:r>
              <a:rPr lang="es-ES" sz="1600" dirty="0"/>
              <a:t>, @</a:t>
            </a:r>
            <a:r>
              <a:rPr lang="es-ES" sz="1600" dirty="0" err="1"/>
              <a:t>function</a:t>
            </a:r>
            <a:endParaRPr lang="es-ES" sz="1600" dirty="0"/>
          </a:p>
          <a:p>
            <a:r>
              <a:rPr lang="es-ES" sz="1600" dirty="0" err="1"/>
              <a:t>main</a:t>
            </a:r>
            <a:r>
              <a:rPr lang="es-ES" sz="1600" dirty="0"/>
              <a:t>:</a:t>
            </a:r>
          </a:p>
          <a:p>
            <a:r>
              <a:rPr lang="es-ES" sz="1600" dirty="0" err="1"/>
              <a:t>pushl</a:t>
            </a:r>
            <a:r>
              <a:rPr lang="es-ES" sz="1600" dirty="0"/>
              <a:t> %</a:t>
            </a:r>
            <a:r>
              <a:rPr lang="es-ES" sz="1600" dirty="0" err="1"/>
              <a:t>ebp</a:t>
            </a:r>
            <a:endParaRPr lang="es-ES" sz="1600" dirty="0"/>
          </a:p>
          <a:p>
            <a:r>
              <a:rPr lang="es-ES" sz="1600" dirty="0" err="1"/>
              <a:t>movl</a:t>
            </a:r>
            <a:r>
              <a:rPr lang="es-ES" sz="1600" dirty="0"/>
              <a:t> %</a:t>
            </a:r>
            <a:r>
              <a:rPr lang="es-ES" sz="1600" dirty="0" err="1"/>
              <a:t>esp</a:t>
            </a:r>
            <a:r>
              <a:rPr lang="es-ES" sz="1600" dirty="0"/>
              <a:t>, %</a:t>
            </a:r>
            <a:r>
              <a:rPr lang="es-ES" sz="1600" dirty="0" err="1"/>
              <a:t>ebp</a:t>
            </a:r>
            <a:endParaRPr lang="es-ES" sz="1600" dirty="0"/>
          </a:p>
          <a:p>
            <a:br>
              <a:rPr lang="es-ES" sz="1600" dirty="0"/>
            </a:br>
            <a:r>
              <a:rPr lang="es-ES" sz="1600" dirty="0" err="1"/>
              <a:t>pushl</a:t>
            </a:r>
            <a:r>
              <a:rPr lang="es-ES" sz="1600" dirty="0"/>
              <a:t> a</a:t>
            </a:r>
          </a:p>
          <a:p>
            <a:r>
              <a:rPr lang="es-ES" sz="1600" dirty="0" err="1"/>
              <a:t>pushl</a:t>
            </a:r>
            <a:r>
              <a:rPr lang="es-ES" sz="1600" dirty="0"/>
              <a:t> $s1</a:t>
            </a:r>
          </a:p>
          <a:p>
            <a:r>
              <a:rPr lang="es-ES" sz="1600" dirty="0" err="1"/>
              <a:t>call</a:t>
            </a:r>
            <a:r>
              <a:rPr lang="es-ES" sz="1600" dirty="0"/>
              <a:t> </a:t>
            </a:r>
            <a:r>
              <a:rPr lang="es-ES" sz="1600" dirty="0" err="1"/>
              <a:t>scanf</a:t>
            </a:r>
            <a:endParaRPr lang="es-ES" sz="1600" dirty="0"/>
          </a:p>
          <a:p>
            <a:r>
              <a:rPr lang="es-ES" sz="1600" dirty="0" err="1"/>
              <a:t>addl</a:t>
            </a:r>
            <a:r>
              <a:rPr lang="es-ES" sz="1600" dirty="0"/>
              <a:t> $(8), %</a:t>
            </a:r>
            <a:r>
              <a:rPr lang="es-ES" sz="1600" dirty="0" err="1"/>
              <a:t>esp</a:t>
            </a:r>
            <a:endParaRPr lang="es-ES" sz="1600" dirty="0"/>
          </a:p>
          <a:p>
            <a:r>
              <a:rPr lang="es-ES" sz="1600" dirty="0" err="1"/>
              <a:t>pushl</a:t>
            </a:r>
            <a:r>
              <a:rPr lang="es-ES" sz="1600" dirty="0"/>
              <a:t> $s2</a:t>
            </a:r>
          </a:p>
          <a:p>
            <a:r>
              <a:rPr lang="es-ES" sz="1600" dirty="0" err="1"/>
              <a:t>call</a:t>
            </a:r>
            <a:r>
              <a:rPr lang="es-ES" sz="1600" dirty="0"/>
              <a:t> </a:t>
            </a:r>
            <a:r>
              <a:rPr lang="es-ES" sz="1600" dirty="0" err="1"/>
              <a:t>printf</a:t>
            </a:r>
            <a:endParaRPr lang="es-ES" sz="1600" dirty="0"/>
          </a:p>
          <a:p>
            <a:r>
              <a:rPr lang="es-ES" sz="1600" dirty="0" err="1"/>
              <a:t>addl</a:t>
            </a:r>
            <a:r>
              <a:rPr lang="es-ES" sz="1600" dirty="0"/>
              <a:t> $(4), %</a:t>
            </a:r>
            <a:r>
              <a:rPr lang="es-ES" sz="1600" dirty="0" err="1"/>
              <a:t>esp</a:t>
            </a:r>
            <a:endParaRPr lang="es-ES" sz="1600" dirty="0"/>
          </a:p>
          <a:p>
            <a:r>
              <a:rPr lang="es-ES" sz="1600" dirty="0" err="1"/>
              <a:t>movl</a:t>
            </a:r>
            <a:r>
              <a:rPr lang="es-ES" sz="1600" dirty="0"/>
              <a:t> $0, %</a:t>
            </a:r>
            <a:r>
              <a:rPr lang="es-ES" sz="1600" dirty="0" err="1"/>
              <a:t>eax</a:t>
            </a:r>
            <a:endParaRPr lang="es-ES" sz="1600" dirty="0"/>
          </a:p>
          <a:p>
            <a:br>
              <a:rPr lang="es-ES" sz="1600" dirty="0"/>
            </a:br>
            <a:r>
              <a:rPr lang="es-ES" sz="1600" dirty="0" err="1"/>
              <a:t>movl</a:t>
            </a:r>
            <a:r>
              <a:rPr lang="es-ES" sz="1600" dirty="0"/>
              <a:t> %</a:t>
            </a:r>
            <a:r>
              <a:rPr lang="es-ES" sz="1600" dirty="0" err="1"/>
              <a:t>ebp</a:t>
            </a:r>
            <a:r>
              <a:rPr lang="es-ES" sz="1600" dirty="0"/>
              <a:t>, %</a:t>
            </a:r>
            <a:r>
              <a:rPr lang="es-ES" sz="1600" dirty="0" err="1"/>
              <a:t>esp</a:t>
            </a:r>
            <a:endParaRPr lang="es-ES" sz="1600" dirty="0"/>
          </a:p>
          <a:p>
            <a:r>
              <a:rPr lang="es-ES" sz="1600" dirty="0" err="1"/>
              <a:t>popl</a:t>
            </a:r>
            <a:r>
              <a:rPr lang="es-ES" sz="1600" dirty="0"/>
              <a:t> %</a:t>
            </a:r>
            <a:r>
              <a:rPr lang="es-ES" sz="1600" dirty="0" err="1"/>
              <a:t>ebp</a:t>
            </a:r>
            <a:endParaRPr lang="es-ES" sz="1600" dirty="0"/>
          </a:p>
          <a:p>
            <a:r>
              <a:rPr lang="es-ES" sz="1600" dirty="0" err="1"/>
              <a:t>ret</a:t>
            </a:r>
            <a:endParaRPr lang="es-ES" sz="16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600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0FDFB-918A-49CF-B857-4B4502FD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198" y="2239020"/>
            <a:ext cx="9905998" cy="1905000"/>
          </a:xfrm>
        </p:spPr>
        <p:txBody>
          <a:bodyPr/>
          <a:lstStyle/>
          <a:p>
            <a:r>
              <a:rPr lang="es-ES" b="1" dirty="0" err="1"/>
              <a:t>Thanks</a:t>
            </a:r>
            <a:r>
              <a:rPr lang="es-ES" b="1" dirty="0"/>
              <a:t> </a:t>
            </a:r>
            <a:r>
              <a:rPr lang="es-ES" b="1" dirty="0" err="1"/>
              <a:t>for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attention</a:t>
            </a:r>
            <a:r>
              <a:rPr lang="es-ES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77856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278</TotalTime>
  <Words>443</Words>
  <Application>Microsoft Office PowerPoint</Application>
  <PresentationFormat>Panorámica</PresentationFormat>
  <Paragraphs>163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Malla</vt:lpstr>
      <vt:lpstr>Language Processors</vt:lpstr>
      <vt:lpstr>Index</vt:lpstr>
      <vt:lpstr>Grammar</vt:lpstr>
      <vt:lpstr>Things Supported</vt:lpstr>
      <vt:lpstr>Data structure</vt:lpstr>
      <vt:lpstr>Example</vt:lpstr>
      <vt:lpstr>Example</vt:lpstr>
      <vt:lpstr>Example</vt:lpstr>
      <vt:lpstr>Thanks for the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Procesadores de lenguajes</dc:title>
  <dc:creator>Rafael Román Aguilar</dc:creator>
  <cp:lastModifiedBy>Rafael Román Aguilar</cp:lastModifiedBy>
  <cp:revision>79</cp:revision>
  <dcterms:created xsi:type="dcterms:W3CDTF">2019-05-29T08:35:41Z</dcterms:created>
  <dcterms:modified xsi:type="dcterms:W3CDTF">2019-05-30T20:15:52Z</dcterms:modified>
</cp:coreProperties>
</file>